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6"/>
  </p:notesMasterIdLst>
  <p:sldIdLst>
    <p:sldId id="256" r:id="rId2"/>
    <p:sldId id="257" r:id="rId3"/>
    <p:sldId id="258" r:id="rId4"/>
    <p:sldId id="260" r:id="rId5"/>
    <p:sldId id="280" r:id="rId6"/>
    <p:sldId id="286" r:id="rId7"/>
    <p:sldId id="261" r:id="rId8"/>
    <p:sldId id="281" r:id="rId9"/>
    <p:sldId id="262" r:id="rId10"/>
    <p:sldId id="263" r:id="rId11"/>
    <p:sldId id="273" r:id="rId12"/>
    <p:sldId id="270" r:id="rId13"/>
    <p:sldId id="264" r:id="rId14"/>
    <p:sldId id="274" r:id="rId15"/>
    <p:sldId id="272" r:id="rId16"/>
    <p:sldId id="271" r:id="rId17"/>
    <p:sldId id="265" r:id="rId18"/>
    <p:sldId id="266" r:id="rId19"/>
    <p:sldId id="282" r:id="rId20"/>
    <p:sldId id="283" r:id="rId21"/>
    <p:sldId id="284" r:id="rId22"/>
    <p:sldId id="268" r:id="rId23"/>
    <p:sldId id="276" r:id="rId24"/>
    <p:sldId id="277" r:id="rId2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874"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Micheli" userId="c2525567-75f5-4635-9ccb-4cd94f466d64" providerId="ADAL" clId="{DF523CE8-311F-403D-8F52-4702BF227305}"/>
    <pc:docChg chg="modSld">
      <pc:chgData name="Alessio Micheli" userId="c2525567-75f5-4635-9ccb-4cd94f466d64" providerId="ADAL" clId="{DF523CE8-311F-403D-8F52-4702BF227305}" dt="2025-11-03T16:20:37.605" v="2" actId="20577"/>
      <pc:docMkLst>
        <pc:docMk/>
      </pc:docMkLst>
      <pc:sldChg chg="modSp mod">
        <pc:chgData name="Alessio Micheli" userId="c2525567-75f5-4635-9ccb-4cd94f466d64" providerId="ADAL" clId="{DF523CE8-311F-403D-8F52-4702BF227305}" dt="2025-11-03T16:20:37.605" v="2" actId="20577"/>
        <pc:sldMkLst>
          <pc:docMk/>
          <pc:sldMk cId="0" sldId="260"/>
        </pc:sldMkLst>
        <pc:spChg chg="mod">
          <ac:chgData name="Alessio Micheli" userId="c2525567-75f5-4635-9ccb-4cd94f466d64" providerId="ADAL" clId="{DF523CE8-311F-403D-8F52-4702BF227305}" dt="2025-11-03T16:20:37.605" v="2" actId="20577"/>
          <ac:spMkLst>
            <pc:docMk/>
            <pc:sldMk cId="0" sldId="260"/>
            <ac:spMk id="89" creationId="{00000000-0000-0000-0000-000000000000}"/>
          </ac:spMkLst>
        </pc:spChg>
      </pc:sldChg>
      <pc:sldChg chg="modSp mod">
        <pc:chgData name="Alessio Micheli" userId="c2525567-75f5-4635-9ccb-4cd94f466d64" providerId="ADAL" clId="{DF523CE8-311F-403D-8F52-4702BF227305}" dt="2025-11-03T16:19:34.623" v="1" actId="20577"/>
        <pc:sldMkLst>
          <pc:docMk/>
          <pc:sldMk cId="0" sldId="262"/>
        </pc:sldMkLst>
        <pc:spChg chg="mod">
          <ac:chgData name="Alessio Micheli" userId="c2525567-75f5-4635-9ccb-4cd94f466d64" providerId="ADAL" clId="{DF523CE8-311F-403D-8F52-4702BF227305}" dt="2025-11-03T16:19:34.623" v="1" actId="20577"/>
          <ac:spMkLst>
            <pc:docMk/>
            <pc:sldMk cId="0" sldId="262"/>
            <ac:spMk id="105" creationId="{00000000-0000-0000-0000-000000000000}"/>
          </ac:spMkLst>
        </pc:spChg>
      </pc:sldChg>
      <pc:sldChg chg="modSp mod">
        <pc:chgData name="Alessio Micheli" userId="c2525567-75f5-4635-9ccb-4cd94f466d64" providerId="ADAL" clId="{DF523CE8-311F-403D-8F52-4702BF227305}" dt="2025-11-03T16:19:06.776" v="0" actId="20577"/>
        <pc:sldMkLst>
          <pc:docMk/>
          <pc:sldMk cId="0" sldId="267"/>
        </pc:sldMkLst>
        <pc:spChg chg="mod">
          <ac:chgData name="Alessio Micheli" userId="c2525567-75f5-4635-9ccb-4cd94f466d64" providerId="ADAL" clId="{DF523CE8-311F-403D-8F52-4702BF227305}" dt="2025-11-03T16:19:06.776" v="0" actId="20577"/>
          <ac:spMkLst>
            <pc:docMk/>
            <pc:sldMk cId="0" sldId="267"/>
            <ac:spMk id="14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EB8A5036-B7A7-F12A-C600-62050BDF0909}"/>
            </a:ext>
          </a:extLst>
        </p:cNvPr>
        <p:cNvGrpSpPr/>
        <p:nvPr/>
      </p:nvGrpSpPr>
      <p:grpSpPr>
        <a:xfrm>
          <a:off x="0" y="0"/>
          <a:ext cx="0" cy="0"/>
          <a:chOff x="0" y="0"/>
          <a:chExt cx="0" cy="0"/>
        </a:xfrm>
      </p:grpSpPr>
      <p:sp>
        <p:nvSpPr>
          <p:cNvPr id="85" name="Google Shape;85;p5:notes">
            <a:extLst>
              <a:ext uri="{FF2B5EF4-FFF2-40B4-BE49-F238E27FC236}">
                <a16:creationId xmlns:a16="http://schemas.microsoft.com/office/drawing/2014/main" id="{0C1A1613-C181-EE7A-F84E-3C752E2FF7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p5:notes">
            <a:extLst>
              <a:ext uri="{FF2B5EF4-FFF2-40B4-BE49-F238E27FC236}">
                <a16:creationId xmlns:a16="http://schemas.microsoft.com/office/drawing/2014/main" id="{D9EDB5C8-B907-DF57-8D22-BC601EFF12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09249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F31A9901-0FA7-B53D-4686-3400B797B759}"/>
            </a:ext>
          </a:extLst>
        </p:cNvPr>
        <p:cNvGrpSpPr/>
        <p:nvPr/>
      </p:nvGrpSpPr>
      <p:grpSpPr>
        <a:xfrm>
          <a:off x="0" y="0"/>
          <a:ext cx="0" cy="0"/>
          <a:chOff x="0" y="0"/>
          <a:chExt cx="0" cy="0"/>
        </a:xfrm>
      </p:grpSpPr>
      <p:sp>
        <p:nvSpPr>
          <p:cNvPr id="85" name="Google Shape;85;p5:notes">
            <a:extLst>
              <a:ext uri="{FF2B5EF4-FFF2-40B4-BE49-F238E27FC236}">
                <a16:creationId xmlns:a16="http://schemas.microsoft.com/office/drawing/2014/main" id="{B339CDE5-B04F-F715-D319-E5F26ADE0A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p5:notes">
            <a:extLst>
              <a:ext uri="{FF2B5EF4-FFF2-40B4-BE49-F238E27FC236}">
                <a16:creationId xmlns:a16="http://schemas.microsoft.com/office/drawing/2014/main" id="{CA6B1BBE-C512-AAE5-822C-997F23E3134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17794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B2BF148-BA8D-BA31-4082-2248C5B46540}"/>
            </a:ext>
          </a:extLst>
        </p:cNvPr>
        <p:cNvGrpSpPr/>
        <p:nvPr/>
      </p:nvGrpSpPr>
      <p:grpSpPr>
        <a:xfrm>
          <a:off x="0" y="0"/>
          <a:ext cx="0" cy="0"/>
          <a:chOff x="0" y="0"/>
          <a:chExt cx="0" cy="0"/>
        </a:xfrm>
      </p:grpSpPr>
      <p:sp>
        <p:nvSpPr>
          <p:cNvPr id="93" name="Google Shape;93;p6:notes">
            <a:extLst>
              <a:ext uri="{FF2B5EF4-FFF2-40B4-BE49-F238E27FC236}">
                <a16:creationId xmlns:a16="http://schemas.microsoft.com/office/drawing/2014/main" id="{D3779F22-A651-41A4-A901-D07E8AF56B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6:notes">
            <a:extLst>
              <a:ext uri="{FF2B5EF4-FFF2-40B4-BE49-F238E27FC236}">
                <a16:creationId xmlns:a16="http://schemas.microsoft.com/office/drawing/2014/main" id="{167CCF3E-BF5C-22C4-B2EC-1B77D0CBB75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75803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65A47496-9421-5328-5B35-DB583A3A0A69}"/>
            </a:ext>
          </a:extLst>
        </p:cNvPr>
        <p:cNvGrpSpPr/>
        <p:nvPr/>
      </p:nvGrpSpPr>
      <p:grpSpPr>
        <a:xfrm>
          <a:off x="0" y="0"/>
          <a:ext cx="0" cy="0"/>
          <a:chOff x="0" y="0"/>
          <a:chExt cx="0" cy="0"/>
        </a:xfrm>
      </p:grpSpPr>
      <p:sp>
        <p:nvSpPr>
          <p:cNvPr id="109" name="Google Shape;109;p8:notes">
            <a:extLst>
              <a:ext uri="{FF2B5EF4-FFF2-40B4-BE49-F238E27FC236}">
                <a16:creationId xmlns:a16="http://schemas.microsoft.com/office/drawing/2014/main" id="{2F7955E8-D47F-A4DE-A9EF-B75214FA4D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8:notes">
            <a:extLst>
              <a:ext uri="{FF2B5EF4-FFF2-40B4-BE49-F238E27FC236}">
                <a16:creationId xmlns:a16="http://schemas.microsoft.com/office/drawing/2014/main" id="{BCDC2266-8479-33F7-0B37-ADC2018EE2A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400243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C5EEA5B-5726-5002-D854-20668FBC8B0B}"/>
            </a:ext>
          </a:extLst>
        </p:cNvPr>
        <p:cNvGrpSpPr/>
        <p:nvPr/>
      </p:nvGrpSpPr>
      <p:grpSpPr>
        <a:xfrm>
          <a:off x="0" y="0"/>
          <a:ext cx="0" cy="0"/>
          <a:chOff x="0" y="0"/>
          <a:chExt cx="0" cy="0"/>
        </a:xfrm>
      </p:grpSpPr>
      <p:sp>
        <p:nvSpPr>
          <p:cNvPr id="109" name="Google Shape;109;p8:notes">
            <a:extLst>
              <a:ext uri="{FF2B5EF4-FFF2-40B4-BE49-F238E27FC236}">
                <a16:creationId xmlns:a16="http://schemas.microsoft.com/office/drawing/2014/main" id="{524BA728-2D30-CE7D-6848-1004966ADB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8:notes">
            <a:extLst>
              <a:ext uri="{FF2B5EF4-FFF2-40B4-BE49-F238E27FC236}">
                <a16:creationId xmlns:a16="http://schemas.microsoft.com/office/drawing/2014/main" id="{0B3CB371-BD2C-0BEF-6DE8-9D58FA7D89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504765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F271AE2B-6201-A0F3-F2A9-ADA2B8D40B44}"/>
            </a:ext>
          </a:extLst>
        </p:cNvPr>
        <p:cNvGrpSpPr/>
        <p:nvPr/>
      </p:nvGrpSpPr>
      <p:grpSpPr>
        <a:xfrm>
          <a:off x="0" y="0"/>
          <a:ext cx="0" cy="0"/>
          <a:chOff x="0" y="0"/>
          <a:chExt cx="0" cy="0"/>
        </a:xfrm>
      </p:grpSpPr>
      <p:sp>
        <p:nvSpPr>
          <p:cNvPr id="116" name="Google Shape;116;p9:notes">
            <a:extLst>
              <a:ext uri="{FF2B5EF4-FFF2-40B4-BE49-F238E27FC236}">
                <a16:creationId xmlns:a16="http://schemas.microsoft.com/office/drawing/2014/main" id="{5FA869C4-58A6-BFD6-8087-CAD2D99BC9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9:notes">
            <a:extLst>
              <a:ext uri="{FF2B5EF4-FFF2-40B4-BE49-F238E27FC236}">
                <a16:creationId xmlns:a16="http://schemas.microsoft.com/office/drawing/2014/main" id="{B33145F5-7217-CA60-C4E1-0CB23DAACB0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24437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0FC98BE0-8A4C-AA11-2109-20EDEE7E2919}"/>
            </a:ext>
          </a:extLst>
        </p:cNvPr>
        <p:cNvGrpSpPr/>
        <p:nvPr/>
      </p:nvGrpSpPr>
      <p:grpSpPr>
        <a:xfrm>
          <a:off x="0" y="0"/>
          <a:ext cx="0" cy="0"/>
          <a:chOff x="0" y="0"/>
          <a:chExt cx="0" cy="0"/>
        </a:xfrm>
      </p:grpSpPr>
      <p:sp>
        <p:nvSpPr>
          <p:cNvPr id="116" name="Google Shape;116;p9:notes">
            <a:extLst>
              <a:ext uri="{FF2B5EF4-FFF2-40B4-BE49-F238E27FC236}">
                <a16:creationId xmlns:a16="http://schemas.microsoft.com/office/drawing/2014/main" id="{3519ECA7-037C-9000-5F6E-90D431B72E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9:notes">
            <a:extLst>
              <a:ext uri="{FF2B5EF4-FFF2-40B4-BE49-F238E27FC236}">
                <a16:creationId xmlns:a16="http://schemas.microsoft.com/office/drawing/2014/main" id="{0F478BD0-EEDE-9133-11F0-A89D35A047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1530856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25CD7E4A-F364-E6E6-5E9C-1BE48CE9E2A4}"/>
            </a:ext>
          </a:extLst>
        </p:cNvPr>
        <p:cNvGrpSpPr/>
        <p:nvPr/>
      </p:nvGrpSpPr>
      <p:grpSpPr>
        <a:xfrm>
          <a:off x="0" y="0"/>
          <a:ext cx="0" cy="0"/>
          <a:chOff x="0" y="0"/>
          <a:chExt cx="0" cy="0"/>
        </a:xfrm>
      </p:grpSpPr>
      <p:sp>
        <p:nvSpPr>
          <p:cNvPr id="116" name="Google Shape;116;p9:notes">
            <a:extLst>
              <a:ext uri="{FF2B5EF4-FFF2-40B4-BE49-F238E27FC236}">
                <a16:creationId xmlns:a16="http://schemas.microsoft.com/office/drawing/2014/main" id="{46A0D0F9-9168-0A20-C3DD-14E7EA4CF9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9:notes">
            <a:extLst>
              <a:ext uri="{FF2B5EF4-FFF2-40B4-BE49-F238E27FC236}">
                <a16:creationId xmlns:a16="http://schemas.microsoft.com/office/drawing/2014/main" id="{F7181013-4E7C-DA10-6FBE-B2116D9ECD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217744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648CBCD7-B54D-D45F-FBB5-1CDE9B1B3244}"/>
            </a:ext>
          </a:extLst>
        </p:cNvPr>
        <p:cNvGrpSpPr/>
        <p:nvPr/>
      </p:nvGrpSpPr>
      <p:grpSpPr>
        <a:xfrm>
          <a:off x="0" y="0"/>
          <a:ext cx="0" cy="0"/>
          <a:chOff x="0" y="0"/>
          <a:chExt cx="0" cy="0"/>
        </a:xfrm>
      </p:grpSpPr>
      <p:sp>
        <p:nvSpPr>
          <p:cNvPr id="144" name="Google Shape;144;p13:notes">
            <a:extLst>
              <a:ext uri="{FF2B5EF4-FFF2-40B4-BE49-F238E27FC236}">
                <a16:creationId xmlns:a16="http://schemas.microsoft.com/office/drawing/2014/main" id="{673DAFEF-756B-3BE0-9A91-3372E32368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13:notes">
            <a:extLst>
              <a:ext uri="{FF2B5EF4-FFF2-40B4-BE49-F238E27FC236}">
                <a16:creationId xmlns:a16="http://schemas.microsoft.com/office/drawing/2014/main" id="{1B73759C-EA21-A88E-012F-1DF3CFEC4E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551660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7137CD5C-5E23-E9CD-6180-690B47F3DA93}"/>
            </a:ext>
          </a:extLst>
        </p:cNvPr>
        <p:cNvGrpSpPr/>
        <p:nvPr/>
      </p:nvGrpSpPr>
      <p:grpSpPr>
        <a:xfrm>
          <a:off x="0" y="0"/>
          <a:ext cx="0" cy="0"/>
          <a:chOff x="0" y="0"/>
          <a:chExt cx="0" cy="0"/>
        </a:xfrm>
      </p:grpSpPr>
      <p:sp>
        <p:nvSpPr>
          <p:cNvPr id="144" name="Google Shape;144;p13:notes">
            <a:extLst>
              <a:ext uri="{FF2B5EF4-FFF2-40B4-BE49-F238E27FC236}">
                <a16:creationId xmlns:a16="http://schemas.microsoft.com/office/drawing/2014/main" id="{D0358F5F-B393-6F54-9341-EA82002672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13:notes">
            <a:extLst>
              <a:ext uri="{FF2B5EF4-FFF2-40B4-BE49-F238E27FC236}">
                <a16:creationId xmlns:a16="http://schemas.microsoft.com/office/drawing/2014/main" id="{04791C53-8346-CF37-EC54-FC8FBB11999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61207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a:t>
            </a:fld>
            <a:endParaRPr/>
          </a:p>
        </p:txBody>
      </p:sp>
    </p:spTree>
    <p:extLst>
      <p:ext uri="{BB962C8B-B14F-4D97-AF65-F5344CB8AC3E}">
        <p14:creationId xmlns:p14="http://schemas.microsoft.com/office/powerpoint/2010/main" val="847915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nguyen2@studenti.unipi.it" TargetMode="External"/><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1.png"/><Relationship Id="rId4" Type="http://schemas.openxmlformats.org/officeDocument/2006/relationships/hyperlink" Target="mailto:t.do1@studenti.unipi.it"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428525"/>
            <a:ext cx="8520600" cy="13743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ct val="111111"/>
              <a:buNone/>
            </a:pPr>
            <a:r>
              <a:rPr lang="it" b="1" dirty="0"/>
              <a:t>ML 2025 Project </a:t>
            </a:r>
            <a:endParaRPr b="1" dirty="0"/>
          </a:p>
        </p:txBody>
      </p:sp>
      <p:sp>
        <p:nvSpPr>
          <p:cNvPr id="55" name="Google Shape;55;p13"/>
          <p:cNvSpPr txBox="1">
            <a:spLocks noGrp="1"/>
          </p:cNvSpPr>
          <p:nvPr>
            <p:ph type="subTitle" idx="1"/>
          </p:nvPr>
        </p:nvSpPr>
        <p:spPr>
          <a:xfrm>
            <a:off x="495300" y="1802825"/>
            <a:ext cx="8229600" cy="2571056"/>
          </a:xfrm>
          <a:prstGeom prst="rect">
            <a:avLst/>
          </a:prstGeom>
          <a:noFill/>
          <a:ln>
            <a:noFill/>
          </a:ln>
        </p:spPr>
        <p:txBody>
          <a:bodyPr spcFirstLastPara="1" wrap="square" lIns="91425" tIns="91425" rIns="91425" bIns="91425" anchor="t" anchorCtr="0">
            <a:noAutofit/>
          </a:bodyPr>
          <a:lstStyle/>
          <a:p>
            <a:pPr marL="0" marR="0" lvl="0" indent="0" algn="ctr" rtl="0">
              <a:lnSpc>
                <a:spcPct val="80000"/>
              </a:lnSpc>
              <a:spcBef>
                <a:spcPts val="0"/>
              </a:spcBef>
              <a:spcAft>
                <a:spcPts val="0"/>
              </a:spcAft>
              <a:buSzPts val="440"/>
              <a:buNone/>
            </a:pPr>
            <a:r>
              <a:rPr lang="it" sz="1520" dirty="0">
                <a:solidFill>
                  <a:schemeClr val="dk1"/>
                </a:solidFill>
              </a:rPr>
              <a:t>Authors :Truong Manh Nguyen, Thi Hien Do</a:t>
            </a:r>
            <a:endParaRPr lang="fr-FR" sz="1520" dirty="0">
              <a:solidFill>
                <a:schemeClr val="dk1"/>
              </a:solidFill>
            </a:endParaRPr>
          </a:p>
          <a:p>
            <a:pPr marL="0" marR="0" lvl="0" indent="0" algn="ctr" rtl="0">
              <a:lnSpc>
                <a:spcPct val="80000"/>
              </a:lnSpc>
              <a:spcBef>
                <a:spcPts val="0"/>
              </a:spcBef>
              <a:spcAft>
                <a:spcPts val="0"/>
              </a:spcAft>
              <a:buSzPts val="440"/>
              <a:buNone/>
            </a:pPr>
            <a:br>
              <a:rPr lang="it" sz="1520" dirty="0">
                <a:solidFill>
                  <a:schemeClr val="dk1"/>
                </a:solidFill>
              </a:rPr>
            </a:br>
            <a:r>
              <a:rPr lang="it" sz="1520" dirty="0">
                <a:solidFill>
                  <a:schemeClr val="dk1"/>
                </a:solidFill>
              </a:rPr>
              <a:t> </a:t>
            </a:r>
          </a:p>
          <a:p>
            <a:pPr marL="0" marR="0" lvl="0" indent="0" algn="ctr" rtl="0">
              <a:lnSpc>
                <a:spcPct val="80000"/>
              </a:lnSpc>
              <a:spcBef>
                <a:spcPts val="0"/>
              </a:spcBef>
              <a:spcAft>
                <a:spcPts val="0"/>
              </a:spcAft>
              <a:buSzPts val="440"/>
              <a:buNone/>
            </a:pPr>
            <a:r>
              <a:rPr lang="it" sz="1520" dirty="0">
                <a:solidFill>
                  <a:schemeClr val="dk1"/>
                </a:solidFill>
              </a:rPr>
              <a:t>Master degree in Data Science and Informatics. </a:t>
            </a:r>
          </a:p>
          <a:p>
            <a:pPr marL="0" lvl="0" indent="0">
              <a:lnSpc>
                <a:spcPct val="80000"/>
              </a:lnSpc>
              <a:buSzPts val="440"/>
            </a:pPr>
            <a:endParaRPr lang="en-US" sz="1520" dirty="0">
              <a:solidFill>
                <a:schemeClr val="dk1"/>
              </a:solidFill>
            </a:endParaRPr>
          </a:p>
          <a:p>
            <a:pPr marL="0" lvl="0" indent="0">
              <a:lnSpc>
                <a:spcPct val="80000"/>
              </a:lnSpc>
              <a:buSzPts val="440"/>
            </a:pPr>
            <a:endParaRPr lang="en-US" sz="1520" dirty="0">
              <a:solidFill>
                <a:schemeClr val="dk1"/>
              </a:solidFill>
            </a:endParaRPr>
          </a:p>
          <a:p>
            <a:pPr marL="0" lvl="0" indent="0">
              <a:lnSpc>
                <a:spcPct val="80000"/>
              </a:lnSpc>
              <a:buSzPts val="440"/>
            </a:pPr>
            <a:r>
              <a:rPr lang="en-US" sz="1520" dirty="0">
                <a:solidFill>
                  <a:schemeClr val="dk1"/>
                </a:solidFill>
              </a:rPr>
              <a:t>Email: </a:t>
            </a:r>
            <a:r>
              <a:rPr lang="en-US" sz="1520" dirty="0">
                <a:solidFill>
                  <a:schemeClr val="dk1"/>
                </a:solidFill>
                <a:hlinkClick r:id="rId3"/>
              </a:rPr>
              <a:t>m.nguyen2@studenti.unipi.it</a:t>
            </a:r>
            <a:r>
              <a:rPr lang="en-US" sz="1520" dirty="0">
                <a:solidFill>
                  <a:schemeClr val="dk1"/>
                </a:solidFill>
              </a:rPr>
              <a:t>, </a:t>
            </a:r>
            <a:r>
              <a:rPr lang="en-US" sz="1520" dirty="0">
                <a:solidFill>
                  <a:schemeClr val="dk1"/>
                </a:solidFill>
                <a:hlinkClick r:id="rId4"/>
              </a:rPr>
              <a:t>t.do1@studenti.unipi.it</a:t>
            </a:r>
            <a:endParaRPr lang="en-US" sz="1520" dirty="0">
              <a:solidFill>
                <a:schemeClr val="dk1"/>
              </a:solidFill>
            </a:endParaRPr>
          </a:p>
          <a:p>
            <a:pPr marL="0" lvl="0" indent="0">
              <a:lnSpc>
                <a:spcPct val="80000"/>
              </a:lnSpc>
              <a:buSzPts val="440"/>
            </a:pPr>
            <a:endParaRPr lang="en-US" sz="1520" dirty="0">
              <a:solidFill>
                <a:schemeClr val="dk1"/>
              </a:solidFill>
            </a:endParaRPr>
          </a:p>
          <a:p>
            <a:pPr marL="0" lvl="0" indent="0">
              <a:lnSpc>
                <a:spcPct val="80000"/>
              </a:lnSpc>
              <a:buSzPts val="440"/>
            </a:pPr>
            <a:endParaRPr lang="it" sz="1520" dirty="0">
              <a:solidFill>
                <a:schemeClr val="dk1"/>
              </a:solidFill>
            </a:endParaRPr>
          </a:p>
          <a:p>
            <a:pPr marL="0" marR="0" lvl="0" indent="0" algn="ctr" rtl="0">
              <a:lnSpc>
                <a:spcPct val="80000"/>
              </a:lnSpc>
              <a:spcBef>
                <a:spcPts val="0"/>
              </a:spcBef>
              <a:spcAft>
                <a:spcPts val="0"/>
              </a:spcAft>
              <a:buSzPts val="440"/>
              <a:buNone/>
            </a:pPr>
            <a:endParaRPr lang="it" sz="1520" dirty="0">
              <a:solidFill>
                <a:schemeClr val="dk1"/>
              </a:solidFill>
            </a:endParaRPr>
          </a:p>
          <a:p>
            <a:pPr marL="0" marR="0" lvl="0" indent="0" algn="ctr" rtl="0">
              <a:lnSpc>
                <a:spcPct val="80000"/>
              </a:lnSpc>
              <a:spcBef>
                <a:spcPts val="0"/>
              </a:spcBef>
              <a:spcAft>
                <a:spcPts val="0"/>
              </a:spcAft>
              <a:buSzPts val="440"/>
              <a:buNone/>
            </a:pPr>
            <a:r>
              <a:rPr lang="it" sz="1520" dirty="0">
                <a:solidFill>
                  <a:schemeClr val="dk1"/>
                </a:solidFill>
              </a:rPr>
              <a:t>Date 23/01/2005</a:t>
            </a:r>
            <a:endParaRPr sz="1200" b="1" i="1" dirty="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r>
              <a:rPr lang="it" sz="1520" dirty="0">
                <a:solidFill>
                  <a:schemeClr val="dk1"/>
                </a:solidFill>
              </a:rPr>
              <a:t>Type of project: </a:t>
            </a:r>
            <a:r>
              <a:rPr lang="it" sz="1520" b="1" dirty="0">
                <a:solidFill>
                  <a:schemeClr val="dk1"/>
                </a:solidFill>
              </a:rPr>
              <a:t> B</a:t>
            </a:r>
            <a:endParaRPr sz="1200" b="1" i="1" dirty="0">
              <a:solidFill>
                <a:schemeClr val="dk1"/>
              </a:solidFill>
              <a:latin typeface="Times New Roman"/>
              <a:ea typeface="Times New Roman"/>
              <a:cs typeface="Times New Roman"/>
              <a:sym typeface="Times New Roman"/>
            </a:endParaRPr>
          </a:p>
        </p:txBody>
      </p:sp>
      <p:pic>
        <p:nvPicPr>
          <p:cNvPr id="56" name="Google Shape;56;p13"/>
          <p:cNvPicPr preferRelativeResize="0"/>
          <p:nvPr/>
        </p:nvPicPr>
        <p:blipFill rotWithShape="1">
          <a:blip r:embed="rId5">
            <a:alphaModFix/>
          </a:blip>
          <a:srcRect/>
          <a:stretch/>
        </p:blipFill>
        <p:spPr>
          <a:xfrm>
            <a:off x="8157525" y="51773"/>
            <a:ext cx="889425" cy="912225"/>
          </a:xfrm>
          <a:prstGeom prst="rect">
            <a:avLst/>
          </a:prstGeom>
          <a:noFill/>
          <a:ln>
            <a:noFill/>
          </a:ln>
        </p:spPr>
      </p:pic>
      <p:sp>
        <p:nvSpPr>
          <p:cNvPr id="57" name="Google Shape;57;p13"/>
          <p:cNvSpPr txBox="1"/>
          <p:nvPr/>
        </p:nvSpPr>
        <p:spPr>
          <a:xfrm>
            <a:off x="7253725" y="2340900"/>
            <a:ext cx="727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it"/>
              <a:t>Objectives</a:t>
            </a:r>
            <a:endParaRPr/>
          </a:p>
        </p:txBody>
      </p:sp>
      <p:sp>
        <p:nvSpPr>
          <p:cNvPr id="65" name="Google Shape;65;p14"/>
          <p:cNvSpPr txBox="1">
            <a:spLocks noGrp="1"/>
          </p:cNvSpPr>
          <p:nvPr>
            <p:ph type="body" idx="1"/>
          </p:nvPr>
        </p:nvSpPr>
        <p:spPr>
          <a:xfrm>
            <a:off x="311700" y="1152475"/>
            <a:ext cx="7956000" cy="3416400"/>
          </a:xfrm>
          <a:prstGeom prst="rect">
            <a:avLst/>
          </a:prstGeom>
          <a:noFill/>
          <a:ln>
            <a:noFill/>
          </a:ln>
        </p:spPr>
        <p:txBody>
          <a:bodyPr spcFirstLastPara="1" wrap="square" lIns="91425" tIns="91425" rIns="91425" bIns="91425" anchor="t" anchorCtr="0">
            <a:normAutofit/>
          </a:bodyPr>
          <a:lstStyle/>
          <a:p>
            <a:pPr marL="114300" indent="0" algn="just">
              <a:buNone/>
            </a:pPr>
            <a:r>
              <a:rPr lang="en-US" dirty="0">
                <a:solidFill>
                  <a:schemeClr val="tx1"/>
                </a:solidFill>
              </a:rPr>
              <a:t>Perform an extensive experimental comparison of different Machine Learning models using existing ML/NN tools.</a:t>
            </a:r>
          </a:p>
          <a:p>
            <a:pPr marL="114300" indent="0">
              <a:buNone/>
            </a:pPr>
            <a:endParaRPr lang="en-US" dirty="0">
              <a:solidFill>
                <a:schemeClr val="tx1"/>
              </a:solidFill>
            </a:endParaRPr>
          </a:p>
          <a:p>
            <a:pPr algn="just"/>
            <a:r>
              <a:rPr lang="en-US" sz="1400" dirty="0">
                <a:solidFill>
                  <a:schemeClr val="tx1"/>
                </a:solidFill>
              </a:rPr>
              <a:t>MONK datasets(classification tasks): we compare SVM, k-NN, and Random Forest implemented within the same software tool (Scikit-learn), and Neural Network models implemented using different tools(Scikit-learn and </a:t>
            </a:r>
            <a:r>
              <a:rPr lang="en-US" sz="1400" dirty="0" err="1">
                <a:solidFill>
                  <a:schemeClr val="tx1"/>
                </a:solidFill>
              </a:rPr>
              <a:t>Keras</a:t>
            </a:r>
            <a:r>
              <a:rPr lang="en-US" sz="1400" dirty="0">
                <a:solidFill>
                  <a:schemeClr val="tx1"/>
                </a:solidFill>
              </a:rPr>
              <a:t>)</a:t>
            </a:r>
          </a:p>
          <a:p>
            <a:endParaRPr lang="en-US" sz="1400" dirty="0">
              <a:solidFill>
                <a:schemeClr val="tx1"/>
              </a:solidFill>
            </a:endParaRPr>
          </a:p>
          <a:p>
            <a:pPr algn="just"/>
            <a:r>
              <a:rPr lang="en-US" sz="1400" dirty="0">
                <a:solidFill>
                  <a:schemeClr val="tx1"/>
                </a:solidFill>
              </a:rPr>
              <a:t>ML-CUP 2025 dataset (regression tasks): we compare SVM, k-NN, Random Forest, and </a:t>
            </a:r>
            <a:r>
              <a:rPr lang="en-US" sz="1400" dirty="0" err="1">
                <a:solidFill>
                  <a:schemeClr val="tx1"/>
                </a:solidFill>
              </a:rPr>
              <a:t>XGBoost</a:t>
            </a:r>
            <a:r>
              <a:rPr lang="en-US" sz="1400" dirty="0">
                <a:solidFill>
                  <a:schemeClr val="tx1"/>
                </a:solidFill>
              </a:rPr>
              <a:t> implemented with Scikit-learn, and Neural Network models implemented with Scikit-learn, </a:t>
            </a:r>
            <a:r>
              <a:rPr lang="en-US" sz="1400" dirty="0" err="1">
                <a:solidFill>
                  <a:schemeClr val="tx1"/>
                </a:solidFill>
              </a:rPr>
              <a:t>Keras</a:t>
            </a:r>
            <a:r>
              <a:rPr lang="en-US" sz="1400" dirty="0">
                <a:solidFill>
                  <a:schemeClr val="tx1"/>
                </a:solidFill>
              </a:rPr>
              <a:t> and </a:t>
            </a:r>
            <a:r>
              <a:rPr lang="en-US" sz="1400" dirty="0" err="1">
                <a:solidFill>
                  <a:schemeClr val="tx1"/>
                </a:solidFill>
              </a:rPr>
              <a:t>Pytorch</a:t>
            </a:r>
            <a:r>
              <a:rPr lang="en-US" sz="1400" dirty="0">
                <a:solidFill>
                  <a:schemeClr val="tx1"/>
                </a:solidFill>
              </a:rPr>
              <a:t> and apply the selected final model to the </a:t>
            </a:r>
            <a:r>
              <a:rPr lang="en-US" sz="1400" b="1" dirty="0">
                <a:solidFill>
                  <a:schemeClr val="tx1"/>
                </a:solidFill>
              </a:rPr>
              <a:t>CUP blind test set.</a:t>
            </a:r>
            <a:endParaRPr lang="en-US" sz="1400" dirty="0">
              <a:solidFill>
                <a:schemeClr val="tx1"/>
              </a:solidFill>
            </a:endParaRPr>
          </a:p>
          <a:p>
            <a:pPr marL="0" lvl="0" indent="0">
              <a:spcBef>
                <a:spcPts val="1200"/>
              </a:spcBef>
              <a:buClr>
                <a:schemeClr val="dk1"/>
              </a:buClr>
              <a:buSzPct val="108108"/>
              <a:buNone/>
            </a:pPr>
            <a:endParaRPr lang="en-US" dirty="0"/>
          </a:p>
        </p:txBody>
      </p:sp>
      <p:sp>
        <p:nvSpPr>
          <p:cNvPr id="66" name="Google Shape;66;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190499"/>
            <a:ext cx="8520600" cy="502919"/>
          </a:xfrm>
          <a:prstGeom prst="rect">
            <a:avLst/>
          </a:prstGeom>
          <a:noFill/>
          <a:ln>
            <a:noFill/>
          </a:ln>
        </p:spPr>
        <p:txBody>
          <a:bodyPr spcFirstLastPara="1" wrap="square" lIns="91425" tIns="91425" rIns="91425" bIns="91425" anchor="t" anchorCtr="0">
            <a:normAutofit fontScale="90000"/>
          </a:bodyPr>
          <a:lstStyle/>
          <a:p>
            <a:pPr lvl="0">
              <a:buSzPct val="111111"/>
            </a:pPr>
            <a:r>
              <a:rPr lang="it" dirty="0"/>
              <a:t>Pipeline and features for the model implementation</a:t>
            </a:r>
            <a:endParaRPr dirty="0"/>
          </a:p>
        </p:txBody>
      </p:sp>
      <p:sp>
        <p:nvSpPr>
          <p:cNvPr id="72" name="Google Shape;72;p15"/>
          <p:cNvSpPr txBox="1">
            <a:spLocks noGrp="1"/>
          </p:cNvSpPr>
          <p:nvPr>
            <p:ph type="body" idx="1"/>
          </p:nvPr>
        </p:nvSpPr>
        <p:spPr>
          <a:xfrm>
            <a:off x="311700" y="822960"/>
            <a:ext cx="8085540" cy="1965960"/>
          </a:xfrm>
          <a:prstGeom prst="rect">
            <a:avLst/>
          </a:prstGeom>
          <a:noFill/>
          <a:ln>
            <a:noFill/>
          </a:ln>
        </p:spPr>
        <p:txBody>
          <a:bodyPr spcFirstLastPara="1" wrap="square" lIns="91425" tIns="91425" rIns="91425" bIns="91425" anchor="t" anchorCtr="0">
            <a:normAutofit/>
          </a:bodyPr>
          <a:lstStyle/>
          <a:p>
            <a:pPr algn="just">
              <a:buFont typeface="Arial"/>
              <a:buChar char="-"/>
            </a:pPr>
            <a:r>
              <a:rPr lang="en-US" sz="1400" b="1" dirty="0">
                <a:solidFill>
                  <a:schemeClr val="tx1"/>
                </a:solidFill>
              </a:rPr>
              <a:t>MONK Pipeline</a:t>
            </a:r>
            <a:r>
              <a:rPr lang="en-US" sz="1400" dirty="0">
                <a:solidFill>
                  <a:schemeClr val="tx1"/>
                </a:solidFill>
              </a:rPr>
              <a:t>:  one-hot encoding preprocessing → model training and selection using Stratified K-Fold cross-validation (k = 3) with grid search → retraining of the best model → evaluation on the provided test set.</a:t>
            </a:r>
          </a:p>
          <a:p>
            <a:pPr algn="just">
              <a:buFont typeface="Arial"/>
              <a:buChar char="-"/>
            </a:pPr>
            <a:r>
              <a:rPr lang="en-US" sz="1400" b="1" dirty="0">
                <a:solidFill>
                  <a:schemeClr val="tx1"/>
                </a:solidFill>
              </a:rPr>
              <a:t>ML-CUP 2025 pipeline</a:t>
            </a:r>
            <a:r>
              <a:rPr lang="en-US" sz="1400" dirty="0">
                <a:solidFill>
                  <a:schemeClr val="tx1"/>
                </a:solidFill>
              </a:rPr>
              <a:t>: data splitting (80% TR / 20% internal TS) → PCA preprocessing → model training and selection via K-Fold cross-validation (k = 5) with grid search → retraining of the best model - model evaluation on the internal TS → select best of best models → retrain on full training set → predict the CUP blind test set.</a:t>
            </a:r>
          </a:p>
          <a:p>
            <a:pPr marL="457200" lvl="0" indent="-342900" algn="l" rtl="0">
              <a:lnSpc>
                <a:spcPct val="115000"/>
              </a:lnSpc>
              <a:spcBef>
                <a:spcPts val="0"/>
              </a:spcBef>
              <a:spcAft>
                <a:spcPts val="0"/>
              </a:spcAft>
              <a:buSzPts val="1800"/>
              <a:buChar char="-"/>
            </a:pPr>
            <a:endParaRPr dirty="0">
              <a:highlight>
                <a:srgbClr val="FFFF00"/>
              </a:highlight>
            </a:endParaRPr>
          </a:p>
        </p:txBody>
      </p:sp>
      <p:sp>
        <p:nvSpPr>
          <p:cNvPr id="73" name="Google Shape;73;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3</a:t>
            </a:fld>
            <a:endParaRPr/>
          </a:p>
        </p:txBody>
      </p:sp>
      <p:sp>
        <p:nvSpPr>
          <p:cNvPr id="5" name="Text Placeholder 4">
            <a:extLst>
              <a:ext uri="{FF2B5EF4-FFF2-40B4-BE49-F238E27FC236}">
                <a16:creationId xmlns:a16="http://schemas.microsoft.com/office/drawing/2014/main" id="{4581D1FC-C938-99C0-3742-848453E97E9F}"/>
              </a:ext>
            </a:extLst>
          </p:cNvPr>
          <p:cNvSpPr>
            <a:spLocks noGrp="1"/>
          </p:cNvSpPr>
          <p:nvPr>
            <p:ph type="body" idx="1"/>
          </p:nvPr>
        </p:nvSpPr>
        <p:spPr>
          <a:xfrm>
            <a:off x="311700" y="2788920"/>
            <a:ext cx="8085540" cy="2080260"/>
          </a:xfrm>
        </p:spPr>
        <p:txBody>
          <a:bodyPr>
            <a:noAutofit/>
          </a:bodyPr>
          <a:lstStyle/>
          <a:p>
            <a:pPr algn="just">
              <a:buFontTx/>
              <a:buChar char="-"/>
            </a:pPr>
            <a:r>
              <a:rPr lang="en-US" sz="1400" b="1" dirty="0">
                <a:solidFill>
                  <a:schemeClr val="tx1"/>
                </a:solidFill>
              </a:rPr>
              <a:t>SVM, k-NN, RF, </a:t>
            </a:r>
            <a:r>
              <a:rPr lang="en-US" sz="1400" b="1" dirty="0" err="1">
                <a:solidFill>
                  <a:schemeClr val="tx1"/>
                </a:solidFill>
              </a:rPr>
              <a:t>XGBoost</a:t>
            </a:r>
            <a:r>
              <a:rPr lang="en-US" sz="1400" b="1" dirty="0">
                <a:solidFill>
                  <a:schemeClr val="tx1"/>
                </a:solidFill>
              </a:rPr>
              <a:t> </a:t>
            </a:r>
            <a:r>
              <a:rPr lang="en-US" sz="1400" dirty="0">
                <a:solidFill>
                  <a:schemeClr val="tx1"/>
                </a:solidFill>
              </a:rPr>
              <a:t>models were trained using library implementations, with hyperparameters selected via grid search and evaluated under the same validation schema.</a:t>
            </a:r>
          </a:p>
          <a:p>
            <a:pPr algn="just">
              <a:buFontTx/>
              <a:buChar char="-"/>
            </a:pPr>
            <a:r>
              <a:rPr lang="en-US" sz="1400" b="1" dirty="0">
                <a:solidFill>
                  <a:schemeClr val="tx1"/>
                </a:solidFill>
              </a:rPr>
              <a:t>Neural Networks: </a:t>
            </a:r>
            <a:r>
              <a:rPr lang="en-US" sz="1400" dirty="0">
                <a:solidFill>
                  <a:schemeClr val="tx1"/>
                </a:solidFill>
              </a:rPr>
              <a:t>we adopted architectures with one hidden layer (2–4 units for MONK), 1–2 layers for CUP, tanh or </a:t>
            </a:r>
            <a:r>
              <a:rPr lang="en-US" sz="1400" dirty="0" err="1">
                <a:solidFill>
                  <a:schemeClr val="tx1"/>
                </a:solidFill>
              </a:rPr>
              <a:t>ReLU</a:t>
            </a:r>
            <a:r>
              <a:rPr lang="en-US" sz="1400" dirty="0">
                <a:solidFill>
                  <a:schemeClr val="tx1"/>
                </a:solidFill>
              </a:rPr>
              <a:t> as activations, and sigmoid output for classification, linear output for regression. Training was performed using SGD or Adam optimizer with mini-batches, random weight initialization multiple run, L2 (Tikhonov) regularization, and early stopping based on validation loss, with fixed maximum epochs as stop condition</a:t>
            </a:r>
          </a:p>
          <a:p>
            <a:endParaRPr lang="en-US" sz="14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US" dirty="0"/>
              <a:t>Monk Result: Best Hyperparameters on KNN, SVM, RF</a:t>
            </a:r>
          </a:p>
        </p:txBody>
      </p:sp>
      <p:sp>
        <p:nvSpPr>
          <p:cNvPr id="91" name="Google Shape;91;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smtClean="0"/>
              <a:t>4</a:t>
            </a:fld>
            <a:endParaRPr lang="it"/>
          </a:p>
        </p:txBody>
      </p:sp>
      <p:graphicFrame>
        <p:nvGraphicFramePr>
          <p:cNvPr id="9" name="Table 8">
            <a:extLst>
              <a:ext uri="{FF2B5EF4-FFF2-40B4-BE49-F238E27FC236}">
                <a16:creationId xmlns:a16="http://schemas.microsoft.com/office/drawing/2014/main" id="{3300B6A7-44F7-3492-859E-15E77F2262D3}"/>
              </a:ext>
            </a:extLst>
          </p:cNvPr>
          <p:cNvGraphicFramePr>
            <a:graphicFrameLocks noGrp="1"/>
          </p:cNvGraphicFramePr>
          <p:nvPr>
            <p:extLst>
              <p:ext uri="{D42A27DB-BD31-4B8C-83A1-F6EECF244321}">
                <p14:modId xmlns:p14="http://schemas.microsoft.com/office/powerpoint/2010/main" val="3513819103"/>
              </p:ext>
            </p:extLst>
          </p:nvPr>
        </p:nvGraphicFramePr>
        <p:xfrm>
          <a:off x="571499" y="1303320"/>
          <a:ext cx="7978142" cy="3205181"/>
        </p:xfrm>
        <a:graphic>
          <a:graphicData uri="http://schemas.openxmlformats.org/drawingml/2006/table">
            <a:tbl>
              <a:tblPr firstRow="1" bandRow="1">
                <a:tableStyleId>{2D5ABB26-0587-4C30-8999-92F81FD0307C}</a:tableStyleId>
              </a:tblPr>
              <a:tblGrid>
                <a:gridCol w="830581">
                  <a:extLst>
                    <a:ext uri="{9D8B030D-6E8A-4147-A177-3AD203B41FA5}">
                      <a16:colId xmlns:a16="http://schemas.microsoft.com/office/drawing/2014/main" val="2262634741"/>
                    </a:ext>
                  </a:extLst>
                </a:gridCol>
                <a:gridCol w="1760220">
                  <a:extLst>
                    <a:ext uri="{9D8B030D-6E8A-4147-A177-3AD203B41FA5}">
                      <a16:colId xmlns:a16="http://schemas.microsoft.com/office/drawing/2014/main" val="2201632752"/>
                    </a:ext>
                  </a:extLst>
                </a:gridCol>
                <a:gridCol w="2011680">
                  <a:extLst>
                    <a:ext uri="{9D8B030D-6E8A-4147-A177-3AD203B41FA5}">
                      <a16:colId xmlns:a16="http://schemas.microsoft.com/office/drawing/2014/main" val="456660579"/>
                    </a:ext>
                  </a:extLst>
                </a:gridCol>
                <a:gridCol w="3375661">
                  <a:extLst>
                    <a:ext uri="{9D8B030D-6E8A-4147-A177-3AD203B41FA5}">
                      <a16:colId xmlns:a16="http://schemas.microsoft.com/office/drawing/2014/main" val="2152274278"/>
                    </a:ext>
                  </a:extLst>
                </a:gridCol>
              </a:tblGrid>
              <a:tr h="373661">
                <a:tc>
                  <a:txBody>
                    <a:bodyPr/>
                    <a:lstStyle/>
                    <a:p>
                      <a:pPr algn="ctr"/>
                      <a:r>
                        <a:rPr lang="it-IT" b="1" dirty="0"/>
                        <a:t>Task</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t>KNN</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t>SVM</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t>Random </a:t>
                      </a:r>
                      <a:r>
                        <a:rPr lang="it-IT" b="1" dirty="0" err="1"/>
                        <a:t>Forest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6885899"/>
                  </a:ext>
                </a:extLst>
              </a:tr>
              <a:tr h="943840">
                <a:tc>
                  <a:txBody>
                    <a:bodyPr/>
                    <a:lstStyle/>
                    <a:p>
                      <a:r>
                        <a:rPr lang="it-IT" dirty="0"/>
                        <a:t>Monk 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u="none" strike="noStrike" cap="none" dirty="0" err="1">
                          <a:solidFill>
                            <a:schemeClr val="dk1"/>
                          </a:solidFill>
                          <a:effectLst/>
                          <a:sym typeface="Arial"/>
                        </a:rPr>
                        <a:t>n_neighbors</a:t>
                      </a:r>
                      <a:r>
                        <a:rPr lang="en-US" sz="1400" b="0" u="none" strike="noStrike" cap="none" dirty="0">
                          <a:solidFill>
                            <a:schemeClr val="dk1"/>
                          </a:solidFill>
                          <a:effectLst/>
                          <a:sym typeface="Arial"/>
                        </a:rPr>
                        <a:t>: 23, metric: </a:t>
                      </a:r>
                      <a:r>
                        <a:rPr lang="en-US" sz="1400" b="0" u="none" strike="noStrike" cap="none" dirty="0" err="1">
                          <a:solidFill>
                            <a:schemeClr val="dk1"/>
                          </a:solidFill>
                          <a:effectLst/>
                          <a:sym typeface="Arial"/>
                        </a:rPr>
                        <a:t>manhattan</a:t>
                      </a:r>
                      <a:r>
                        <a:rPr lang="en-US" sz="1400" b="0" u="none" strike="noStrike" cap="none" dirty="0">
                          <a:solidFill>
                            <a:schemeClr val="dk1"/>
                          </a:solidFill>
                          <a:effectLst/>
                          <a:sym typeface="Arial"/>
                        </a:rPr>
                        <a:t>, weights: distance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u="none" strike="noStrike" cap="none" dirty="0">
                          <a:solidFill>
                            <a:schemeClr val="dk1"/>
                          </a:solidFill>
                          <a:effectLst/>
                          <a:sym typeface="Arial"/>
                        </a:rPr>
                        <a:t>C: 1, </a:t>
                      </a:r>
                      <a:r>
                        <a:rPr lang="en-US" sz="1400" b="0" u="none" strike="noStrike" cap="none" dirty="0">
                          <a:solidFill>
                            <a:schemeClr val="tx1"/>
                          </a:solidFill>
                          <a:effectLst/>
                          <a:sym typeface="Arial"/>
                        </a:rPr>
                        <a:t>coef0: 0, </a:t>
                      </a:r>
                      <a:r>
                        <a:rPr lang="en-US" sz="1400" b="0" u="none" strike="noStrike" cap="none" dirty="0">
                          <a:solidFill>
                            <a:schemeClr val="dk1"/>
                          </a:solidFill>
                          <a:effectLst/>
                          <a:sym typeface="Arial"/>
                        </a:rPr>
                        <a:t>gamma:1, degree: 2</a:t>
                      </a:r>
                    </a:p>
                    <a:p>
                      <a:r>
                        <a:rPr lang="en-US" sz="1400" b="0" u="none" strike="noStrike" cap="none" dirty="0">
                          <a:solidFill>
                            <a:schemeClr val="dk1"/>
                          </a:solidFill>
                          <a:effectLst/>
                          <a:sym typeface="Arial"/>
                        </a:rPr>
                        <a:t>kernel: poly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u="none" strike="noStrike" cap="none" dirty="0" err="1">
                          <a:solidFill>
                            <a:schemeClr val="dk1"/>
                          </a:solidFill>
                          <a:effectLst/>
                          <a:sym typeface="Arial"/>
                        </a:rPr>
                        <a:t>n_estimators</a:t>
                      </a:r>
                      <a:r>
                        <a:rPr lang="en-US" sz="1400" b="0" u="none" strike="noStrike" cap="none" dirty="0">
                          <a:solidFill>
                            <a:schemeClr val="dk1"/>
                          </a:solidFill>
                          <a:effectLst/>
                          <a:sym typeface="Arial"/>
                        </a:rPr>
                        <a:t>: 50, </a:t>
                      </a:r>
                      <a:r>
                        <a:rPr lang="en-US" sz="1400" b="0" u="none" strike="noStrike" cap="none" dirty="0" err="1">
                          <a:solidFill>
                            <a:schemeClr val="dk1"/>
                          </a:solidFill>
                          <a:effectLst/>
                          <a:sym typeface="Arial"/>
                        </a:rPr>
                        <a:t>max_depth</a:t>
                      </a:r>
                      <a:r>
                        <a:rPr lang="en-US" sz="1400" b="0" u="none" strike="noStrike" cap="none" dirty="0">
                          <a:solidFill>
                            <a:schemeClr val="dk1"/>
                          </a:solidFill>
                          <a:effectLst/>
                          <a:sym typeface="Arial"/>
                        </a:rPr>
                        <a:t>: 7, </a:t>
                      </a:r>
                      <a:r>
                        <a:rPr lang="en-US" sz="1400" b="0" u="none" strike="noStrike" cap="none" dirty="0" err="1">
                          <a:solidFill>
                            <a:schemeClr val="dk1"/>
                          </a:solidFill>
                          <a:effectLst/>
                          <a:sym typeface="Arial"/>
                        </a:rPr>
                        <a:t>max_features</a:t>
                      </a:r>
                      <a:r>
                        <a:rPr lang="en-US" sz="1400" b="0" u="none" strike="noStrike" cap="none" dirty="0">
                          <a:solidFill>
                            <a:schemeClr val="dk1"/>
                          </a:solidFill>
                          <a:effectLst/>
                          <a:sym typeface="Arial"/>
                        </a:rPr>
                        <a:t>: None,</a:t>
                      </a:r>
                      <a:r>
                        <a:rPr lang="en-US" sz="1400" b="0" u="none" strike="noStrike" cap="none" dirty="0">
                          <a:solidFill>
                            <a:schemeClr val="tx1"/>
                          </a:solidFill>
                          <a:effectLst/>
                          <a:sym typeface="Arial"/>
                        </a:rPr>
                        <a:t> </a:t>
                      </a:r>
                      <a:r>
                        <a:rPr lang="en-US" sz="1400" b="0" u="none" strike="noStrike" cap="none" dirty="0" err="1">
                          <a:solidFill>
                            <a:schemeClr val="tx1"/>
                          </a:solidFill>
                          <a:effectLst/>
                          <a:sym typeface="Arial"/>
                        </a:rPr>
                        <a:t>min_samples_leaf</a:t>
                      </a:r>
                      <a:r>
                        <a:rPr lang="en-US" sz="1400" b="0" u="none" strike="noStrike" cap="none" dirty="0">
                          <a:solidFill>
                            <a:schemeClr val="tx1"/>
                          </a:solidFill>
                          <a:effectLst/>
                          <a:sym typeface="Arial"/>
                        </a:rPr>
                        <a:t>: 1,</a:t>
                      </a:r>
                      <a:r>
                        <a:rPr lang="en-US" sz="1400" b="0" u="none" strike="noStrike" cap="none" dirty="0">
                          <a:solidFill>
                            <a:schemeClr val="dk1"/>
                          </a:solidFill>
                          <a:effectLst/>
                          <a:sym typeface="Arial"/>
                        </a:rPr>
                        <a:t> </a:t>
                      </a:r>
                      <a:r>
                        <a:rPr lang="en-US" sz="1400" b="0" u="none" strike="noStrike" cap="none" dirty="0" err="1">
                          <a:solidFill>
                            <a:schemeClr val="dk1"/>
                          </a:solidFill>
                          <a:effectLst/>
                          <a:sym typeface="Arial"/>
                        </a:rPr>
                        <a:t>min_samples_split</a:t>
                      </a:r>
                      <a:r>
                        <a:rPr lang="en-US" sz="1400" b="0" u="none" strike="noStrike" cap="none" dirty="0">
                          <a:solidFill>
                            <a:schemeClr val="dk1"/>
                          </a:solidFill>
                          <a:effectLst/>
                          <a:sym typeface="Arial"/>
                        </a:rPr>
                        <a:t>: 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6762946"/>
                  </a:ext>
                </a:extLst>
              </a:tr>
              <a:tr h="943840">
                <a:tc>
                  <a:txBody>
                    <a:bodyPr/>
                    <a:lstStyle/>
                    <a:p>
                      <a:r>
                        <a:rPr lang="it-IT" dirty="0"/>
                        <a:t>Monk 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u="none" strike="noStrike" cap="none" dirty="0" err="1">
                          <a:solidFill>
                            <a:schemeClr val="dk1"/>
                          </a:solidFill>
                          <a:effectLst/>
                          <a:sym typeface="Arial"/>
                        </a:rPr>
                        <a:t>n_neighbors</a:t>
                      </a:r>
                      <a:r>
                        <a:rPr lang="en-US" sz="1400" b="0" u="none" strike="noStrike" cap="none" dirty="0">
                          <a:solidFill>
                            <a:schemeClr val="dk1"/>
                          </a:solidFill>
                          <a:effectLst/>
                          <a:sym typeface="Arial"/>
                        </a:rPr>
                        <a:t>: 24, metric: </a:t>
                      </a:r>
                      <a:r>
                        <a:rPr lang="en-US" sz="1400" b="0" u="none" strike="noStrike" cap="none" dirty="0" err="1">
                          <a:solidFill>
                            <a:schemeClr val="dk1"/>
                          </a:solidFill>
                          <a:effectLst/>
                          <a:sym typeface="Arial"/>
                        </a:rPr>
                        <a:t>manhattan</a:t>
                      </a:r>
                      <a:r>
                        <a:rPr lang="en-US" sz="1400" b="0" u="none" strike="noStrike" cap="none" dirty="0">
                          <a:solidFill>
                            <a:schemeClr val="dk1"/>
                          </a:solidFill>
                          <a:effectLst/>
                          <a:sym typeface="Arial"/>
                        </a:rPr>
                        <a:t>, weights: distance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u="none" strike="noStrike" cap="none" dirty="0">
                          <a:solidFill>
                            <a:schemeClr val="dk1"/>
                          </a:solidFill>
                          <a:effectLst/>
                          <a:sym typeface="Arial"/>
                        </a:rPr>
                        <a:t>C: 10, </a:t>
                      </a:r>
                      <a:r>
                        <a:rPr lang="en-US" sz="1400" b="0" u="none" strike="noStrike" cap="none" dirty="0">
                          <a:solidFill>
                            <a:schemeClr val="tx1"/>
                          </a:solidFill>
                          <a:effectLst/>
                          <a:sym typeface="Arial"/>
                        </a:rPr>
                        <a:t>coef0: 1, </a:t>
                      </a:r>
                      <a:r>
                        <a:rPr lang="en-US" sz="1400" b="0" u="none" strike="noStrike" cap="none" dirty="0">
                          <a:solidFill>
                            <a:schemeClr val="dk1"/>
                          </a:solidFill>
                          <a:effectLst/>
                          <a:sym typeface="Arial"/>
                        </a:rPr>
                        <a:t>gamma:1, degree: 2</a:t>
                      </a:r>
                    </a:p>
                    <a:p>
                      <a:r>
                        <a:rPr lang="en-US" sz="1400" b="0" u="none" strike="noStrike" cap="none" dirty="0">
                          <a:solidFill>
                            <a:schemeClr val="dk1"/>
                          </a:solidFill>
                          <a:effectLst/>
                          <a:sym typeface="Arial"/>
                        </a:rPr>
                        <a:t>kernel: poly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u="none" strike="noStrike" cap="none" dirty="0" err="1">
                          <a:solidFill>
                            <a:schemeClr val="dk1"/>
                          </a:solidFill>
                          <a:effectLst/>
                          <a:sym typeface="Arial"/>
                        </a:rPr>
                        <a:t>n_estimators</a:t>
                      </a:r>
                      <a:r>
                        <a:rPr lang="en-US" sz="1400" b="0" u="none" strike="noStrike" cap="none" dirty="0">
                          <a:solidFill>
                            <a:schemeClr val="dk1"/>
                          </a:solidFill>
                          <a:effectLst/>
                          <a:sym typeface="Arial"/>
                        </a:rPr>
                        <a:t>: 50, </a:t>
                      </a:r>
                      <a:r>
                        <a:rPr lang="en-US" sz="1400" b="0" u="none" strike="noStrike" cap="none" dirty="0" err="1">
                          <a:solidFill>
                            <a:schemeClr val="dk1"/>
                          </a:solidFill>
                          <a:effectLst/>
                          <a:sym typeface="Arial"/>
                        </a:rPr>
                        <a:t>max_depth</a:t>
                      </a:r>
                      <a:r>
                        <a:rPr lang="en-US" sz="1400" b="0" u="none" strike="noStrike" cap="none" dirty="0">
                          <a:solidFill>
                            <a:schemeClr val="dk1"/>
                          </a:solidFill>
                          <a:effectLst/>
                          <a:sym typeface="Arial"/>
                        </a:rPr>
                        <a:t>: 12, </a:t>
                      </a:r>
                      <a:r>
                        <a:rPr lang="en-US" sz="1400" b="0" u="none" strike="noStrike" cap="none" dirty="0" err="1">
                          <a:solidFill>
                            <a:schemeClr val="dk1"/>
                          </a:solidFill>
                          <a:effectLst/>
                          <a:sym typeface="Arial"/>
                        </a:rPr>
                        <a:t>max_features</a:t>
                      </a:r>
                      <a:r>
                        <a:rPr lang="en-US" sz="1400" b="0" u="none" strike="noStrike" cap="none" dirty="0">
                          <a:solidFill>
                            <a:schemeClr val="dk1"/>
                          </a:solidFill>
                          <a:effectLst/>
                          <a:sym typeface="Arial"/>
                        </a:rPr>
                        <a:t>: sqrt,</a:t>
                      </a:r>
                      <a:r>
                        <a:rPr lang="en-US" sz="1400" b="0" u="none" strike="noStrike" cap="none" dirty="0">
                          <a:solidFill>
                            <a:schemeClr val="tx1"/>
                          </a:solidFill>
                          <a:effectLst/>
                          <a:sym typeface="Arial"/>
                        </a:rPr>
                        <a:t> </a:t>
                      </a:r>
                      <a:r>
                        <a:rPr lang="en-US" sz="1400" b="0" u="none" strike="noStrike" cap="none" dirty="0" err="1">
                          <a:solidFill>
                            <a:schemeClr val="tx1"/>
                          </a:solidFill>
                          <a:effectLst/>
                          <a:sym typeface="Arial"/>
                        </a:rPr>
                        <a:t>min_samples_leaf</a:t>
                      </a:r>
                      <a:r>
                        <a:rPr lang="en-US" sz="1400" b="0" u="none" strike="noStrike" cap="none" dirty="0">
                          <a:solidFill>
                            <a:schemeClr val="tx1"/>
                          </a:solidFill>
                          <a:effectLst/>
                          <a:sym typeface="Arial"/>
                        </a:rPr>
                        <a:t>: 1,</a:t>
                      </a:r>
                      <a:r>
                        <a:rPr lang="en-US" sz="1400" b="0" u="none" strike="noStrike" cap="none" dirty="0">
                          <a:solidFill>
                            <a:schemeClr val="dk1"/>
                          </a:solidFill>
                          <a:effectLst/>
                          <a:sym typeface="Arial"/>
                        </a:rPr>
                        <a:t> </a:t>
                      </a:r>
                      <a:r>
                        <a:rPr lang="en-US" sz="1400" b="0" u="none" strike="noStrike" cap="none" dirty="0" err="1">
                          <a:solidFill>
                            <a:schemeClr val="dk1"/>
                          </a:solidFill>
                          <a:effectLst/>
                          <a:sym typeface="Arial"/>
                        </a:rPr>
                        <a:t>min_samples_split</a:t>
                      </a:r>
                      <a:r>
                        <a:rPr lang="en-US" sz="1400" b="0" u="none" strike="noStrike" cap="none" dirty="0">
                          <a:solidFill>
                            <a:schemeClr val="dk1"/>
                          </a:solidFill>
                          <a:effectLst/>
                          <a:sym typeface="Arial"/>
                        </a:rPr>
                        <a:t>: 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2554232"/>
                  </a:ext>
                </a:extLst>
              </a:tr>
              <a:tr h="943840">
                <a:tc>
                  <a:txBody>
                    <a:bodyPr/>
                    <a:lstStyle/>
                    <a:p>
                      <a:r>
                        <a:rPr lang="it-IT" dirty="0"/>
                        <a:t>Monk 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u="none" strike="noStrike" cap="none" dirty="0" err="1">
                          <a:solidFill>
                            <a:schemeClr val="dk1"/>
                          </a:solidFill>
                          <a:effectLst/>
                          <a:sym typeface="Arial"/>
                        </a:rPr>
                        <a:t>n_neighbors</a:t>
                      </a:r>
                      <a:r>
                        <a:rPr lang="en-US" sz="1400" b="0" u="none" strike="noStrike" cap="none" dirty="0">
                          <a:solidFill>
                            <a:schemeClr val="dk1"/>
                          </a:solidFill>
                          <a:effectLst/>
                          <a:sym typeface="Arial"/>
                        </a:rPr>
                        <a:t>: 11, metric: </a:t>
                      </a:r>
                      <a:r>
                        <a:rPr lang="en-US" sz="1400" b="0" u="none" strike="noStrike" cap="none" dirty="0" err="1">
                          <a:solidFill>
                            <a:schemeClr val="dk1"/>
                          </a:solidFill>
                          <a:effectLst/>
                          <a:sym typeface="Arial"/>
                        </a:rPr>
                        <a:t>manhattan</a:t>
                      </a:r>
                      <a:r>
                        <a:rPr lang="en-US" sz="1400" b="0" u="none" strike="noStrike" cap="none" dirty="0">
                          <a:solidFill>
                            <a:schemeClr val="dk1"/>
                          </a:solidFill>
                          <a:effectLst/>
                          <a:sym typeface="Arial"/>
                        </a:rPr>
                        <a:t>, weights: distance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u="none" strike="noStrike" cap="none" dirty="0">
                          <a:solidFill>
                            <a:schemeClr val="dk1"/>
                          </a:solidFill>
                          <a:effectLst/>
                          <a:sym typeface="Arial"/>
                        </a:rPr>
                        <a:t>C: 1, </a:t>
                      </a:r>
                      <a:r>
                        <a:rPr lang="en-US" sz="1400" b="0" u="none" strike="noStrike" cap="none" dirty="0">
                          <a:solidFill>
                            <a:schemeClr val="tx1"/>
                          </a:solidFill>
                          <a:effectLst/>
                          <a:sym typeface="Arial"/>
                        </a:rPr>
                        <a:t>coef0: 1, </a:t>
                      </a:r>
                      <a:r>
                        <a:rPr lang="en-US" sz="1400" b="0" u="none" strike="noStrike" cap="none" dirty="0">
                          <a:solidFill>
                            <a:schemeClr val="dk1"/>
                          </a:solidFill>
                          <a:effectLst/>
                          <a:sym typeface="Arial"/>
                        </a:rPr>
                        <a:t>gamma:0.1, degree: 4</a:t>
                      </a:r>
                    </a:p>
                    <a:p>
                      <a:r>
                        <a:rPr lang="en-US" sz="1400" b="0" u="none" strike="noStrike" cap="none" dirty="0">
                          <a:solidFill>
                            <a:schemeClr val="dk1"/>
                          </a:solidFill>
                          <a:effectLst/>
                          <a:sym typeface="Arial"/>
                        </a:rPr>
                        <a:t>kernel: poly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u="none" strike="noStrike" cap="none" dirty="0" err="1">
                          <a:solidFill>
                            <a:schemeClr val="dk1"/>
                          </a:solidFill>
                          <a:effectLst/>
                          <a:sym typeface="Arial"/>
                        </a:rPr>
                        <a:t>n_estimators</a:t>
                      </a:r>
                      <a:r>
                        <a:rPr lang="en-US" sz="1400" b="0" u="none" strike="noStrike" cap="none" dirty="0">
                          <a:solidFill>
                            <a:schemeClr val="dk1"/>
                          </a:solidFill>
                          <a:effectLst/>
                          <a:sym typeface="Arial"/>
                        </a:rPr>
                        <a:t>: 200, max_depth:5, </a:t>
                      </a:r>
                      <a:r>
                        <a:rPr lang="en-US" sz="1400" b="0" u="none" strike="noStrike" cap="none" dirty="0" err="1">
                          <a:solidFill>
                            <a:schemeClr val="dk1"/>
                          </a:solidFill>
                          <a:effectLst/>
                          <a:sym typeface="Arial"/>
                        </a:rPr>
                        <a:t>max_features</a:t>
                      </a:r>
                      <a:r>
                        <a:rPr lang="en-US" sz="1400" b="0" u="none" strike="noStrike" cap="none" dirty="0">
                          <a:solidFill>
                            <a:schemeClr val="dk1"/>
                          </a:solidFill>
                          <a:effectLst/>
                          <a:sym typeface="Arial"/>
                        </a:rPr>
                        <a:t>: None,</a:t>
                      </a:r>
                      <a:r>
                        <a:rPr lang="en-US" sz="1400" b="0" u="none" strike="noStrike" cap="none" dirty="0">
                          <a:solidFill>
                            <a:schemeClr val="tx1"/>
                          </a:solidFill>
                          <a:effectLst/>
                          <a:sym typeface="Arial"/>
                        </a:rPr>
                        <a:t> </a:t>
                      </a:r>
                      <a:r>
                        <a:rPr lang="en-US" sz="1400" b="0" u="none" strike="noStrike" cap="none" dirty="0" err="1">
                          <a:solidFill>
                            <a:schemeClr val="tx1"/>
                          </a:solidFill>
                          <a:effectLst/>
                          <a:sym typeface="Arial"/>
                        </a:rPr>
                        <a:t>min_samples_leaf</a:t>
                      </a:r>
                      <a:r>
                        <a:rPr lang="en-US" sz="1400" b="0" u="none" strike="noStrike" cap="none" dirty="0">
                          <a:solidFill>
                            <a:schemeClr val="tx1"/>
                          </a:solidFill>
                          <a:effectLst/>
                          <a:sym typeface="Arial"/>
                        </a:rPr>
                        <a:t>: 1,</a:t>
                      </a:r>
                      <a:r>
                        <a:rPr lang="en-US" sz="1400" b="0" u="none" strike="noStrike" cap="none" dirty="0">
                          <a:solidFill>
                            <a:schemeClr val="dk1"/>
                          </a:solidFill>
                          <a:effectLst/>
                          <a:sym typeface="Arial"/>
                        </a:rPr>
                        <a:t> </a:t>
                      </a:r>
                      <a:r>
                        <a:rPr lang="en-US" sz="1400" b="0" u="none" strike="noStrike" cap="none" dirty="0" err="1">
                          <a:solidFill>
                            <a:schemeClr val="dk1"/>
                          </a:solidFill>
                          <a:effectLst/>
                          <a:sym typeface="Arial"/>
                        </a:rPr>
                        <a:t>min_samples_split</a:t>
                      </a:r>
                      <a:r>
                        <a:rPr lang="en-US" sz="1400" b="0" u="none" strike="noStrike" cap="none" dirty="0">
                          <a:solidFill>
                            <a:schemeClr val="dk1"/>
                          </a:solidFill>
                          <a:effectLst/>
                          <a:sym typeface="Arial"/>
                        </a:rPr>
                        <a:t>: 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482899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50EDB009-9A18-2F7C-4964-0D256F92C885}"/>
            </a:ext>
          </a:extLst>
        </p:cNvPr>
        <p:cNvGrpSpPr/>
        <p:nvPr/>
      </p:nvGrpSpPr>
      <p:grpSpPr>
        <a:xfrm>
          <a:off x="0" y="0"/>
          <a:ext cx="0" cy="0"/>
          <a:chOff x="0" y="0"/>
          <a:chExt cx="0" cy="0"/>
        </a:xfrm>
      </p:grpSpPr>
      <p:sp>
        <p:nvSpPr>
          <p:cNvPr id="88" name="Google Shape;88;p17">
            <a:extLst>
              <a:ext uri="{FF2B5EF4-FFF2-40B4-BE49-F238E27FC236}">
                <a16:creationId xmlns:a16="http://schemas.microsoft.com/office/drawing/2014/main" id="{F160CDB0-61BA-41C0-FBD2-336FEAA55247}"/>
              </a:ext>
            </a:extLst>
          </p:cNvPr>
          <p:cNvSpPr txBox="1">
            <a:spLocks noGrp="1"/>
          </p:cNvSpPr>
          <p:nvPr>
            <p:ph type="title"/>
          </p:nvPr>
        </p:nvSpPr>
        <p:spPr>
          <a:xfrm>
            <a:off x="311700" y="205741"/>
            <a:ext cx="8520600" cy="54864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US" dirty="0"/>
              <a:t>Monk Results : KNN, RF, SVM Performances</a:t>
            </a:r>
            <a:br>
              <a:rPr lang="en-US" dirty="0"/>
            </a:br>
            <a:r>
              <a:rPr lang="en-US" dirty="0"/>
              <a:t> </a:t>
            </a:r>
          </a:p>
        </p:txBody>
      </p:sp>
      <p:sp>
        <p:nvSpPr>
          <p:cNvPr id="91" name="Google Shape;91;p17">
            <a:extLst>
              <a:ext uri="{FF2B5EF4-FFF2-40B4-BE49-F238E27FC236}">
                <a16:creationId xmlns:a16="http://schemas.microsoft.com/office/drawing/2014/main" id="{4B680BC0-F89A-F191-1303-A061EA9D220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smtClean="0"/>
              <a:t>5</a:t>
            </a:fld>
            <a:endParaRPr lang="it"/>
          </a:p>
        </p:txBody>
      </p:sp>
      <p:graphicFrame>
        <p:nvGraphicFramePr>
          <p:cNvPr id="2" name="Table 1">
            <a:extLst>
              <a:ext uri="{FF2B5EF4-FFF2-40B4-BE49-F238E27FC236}">
                <a16:creationId xmlns:a16="http://schemas.microsoft.com/office/drawing/2014/main" id="{7D2463F6-568B-4CF0-E110-FB57A1E243D4}"/>
              </a:ext>
            </a:extLst>
          </p:cNvPr>
          <p:cNvGraphicFramePr>
            <a:graphicFrameLocks noGrp="1"/>
          </p:cNvGraphicFramePr>
          <p:nvPr>
            <p:extLst>
              <p:ext uri="{D42A27DB-BD31-4B8C-83A1-F6EECF244321}">
                <p14:modId xmlns:p14="http://schemas.microsoft.com/office/powerpoint/2010/main" val="1815951108"/>
              </p:ext>
            </p:extLst>
          </p:nvPr>
        </p:nvGraphicFramePr>
        <p:xfrm>
          <a:off x="495300" y="1417321"/>
          <a:ext cx="8061960" cy="2171701"/>
        </p:xfrm>
        <a:graphic>
          <a:graphicData uri="http://schemas.openxmlformats.org/drawingml/2006/table">
            <a:tbl>
              <a:tblPr firstRow="1" bandRow="1">
                <a:tableStyleId>{2D5ABB26-0587-4C30-8999-92F81FD0307C}</a:tableStyleId>
              </a:tblPr>
              <a:tblGrid>
                <a:gridCol w="769620">
                  <a:extLst>
                    <a:ext uri="{9D8B030D-6E8A-4147-A177-3AD203B41FA5}">
                      <a16:colId xmlns:a16="http://schemas.microsoft.com/office/drawing/2014/main" val="2447688262"/>
                    </a:ext>
                  </a:extLst>
                </a:gridCol>
                <a:gridCol w="817579">
                  <a:extLst>
                    <a:ext uri="{9D8B030D-6E8A-4147-A177-3AD203B41FA5}">
                      <a16:colId xmlns:a16="http://schemas.microsoft.com/office/drawing/2014/main" val="1965633637"/>
                    </a:ext>
                  </a:extLst>
                </a:gridCol>
                <a:gridCol w="831389">
                  <a:extLst>
                    <a:ext uri="{9D8B030D-6E8A-4147-A177-3AD203B41FA5}">
                      <a16:colId xmlns:a16="http://schemas.microsoft.com/office/drawing/2014/main" val="1765990081"/>
                    </a:ext>
                  </a:extLst>
                </a:gridCol>
                <a:gridCol w="806196">
                  <a:extLst>
                    <a:ext uri="{9D8B030D-6E8A-4147-A177-3AD203B41FA5}">
                      <a16:colId xmlns:a16="http://schemas.microsoft.com/office/drawing/2014/main" val="2208538887"/>
                    </a:ext>
                  </a:extLst>
                </a:gridCol>
                <a:gridCol w="806196">
                  <a:extLst>
                    <a:ext uri="{9D8B030D-6E8A-4147-A177-3AD203B41FA5}">
                      <a16:colId xmlns:a16="http://schemas.microsoft.com/office/drawing/2014/main" val="473880309"/>
                    </a:ext>
                  </a:extLst>
                </a:gridCol>
                <a:gridCol w="806196">
                  <a:extLst>
                    <a:ext uri="{9D8B030D-6E8A-4147-A177-3AD203B41FA5}">
                      <a16:colId xmlns:a16="http://schemas.microsoft.com/office/drawing/2014/main" val="1051062764"/>
                    </a:ext>
                  </a:extLst>
                </a:gridCol>
                <a:gridCol w="806196">
                  <a:extLst>
                    <a:ext uri="{9D8B030D-6E8A-4147-A177-3AD203B41FA5}">
                      <a16:colId xmlns:a16="http://schemas.microsoft.com/office/drawing/2014/main" val="4239449034"/>
                    </a:ext>
                  </a:extLst>
                </a:gridCol>
                <a:gridCol w="806196">
                  <a:extLst>
                    <a:ext uri="{9D8B030D-6E8A-4147-A177-3AD203B41FA5}">
                      <a16:colId xmlns:a16="http://schemas.microsoft.com/office/drawing/2014/main" val="2037976774"/>
                    </a:ext>
                  </a:extLst>
                </a:gridCol>
                <a:gridCol w="806196">
                  <a:extLst>
                    <a:ext uri="{9D8B030D-6E8A-4147-A177-3AD203B41FA5}">
                      <a16:colId xmlns:a16="http://schemas.microsoft.com/office/drawing/2014/main" val="2527440998"/>
                    </a:ext>
                  </a:extLst>
                </a:gridCol>
                <a:gridCol w="806196">
                  <a:extLst>
                    <a:ext uri="{9D8B030D-6E8A-4147-A177-3AD203B41FA5}">
                      <a16:colId xmlns:a16="http://schemas.microsoft.com/office/drawing/2014/main" val="3806366307"/>
                    </a:ext>
                  </a:extLst>
                </a:gridCol>
              </a:tblGrid>
              <a:tr h="305873">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it-IT" dirty="0" err="1"/>
                        <a:t>Accuracy</a:t>
                      </a:r>
                      <a:r>
                        <a:rPr lang="it-IT" dirty="0"/>
                        <a: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gridSpan="3">
                  <a:txBody>
                    <a:bodyPr/>
                    <a:lstStyle/>
                    <a:p>
                      <a:pPr algn="ctr"/>
                      <a:r>
                        <a:rPr lang="it-IT" dirty="0"/>
                        <a:t>Macro </a:t>
                      </a:r>
                      <a:r>
                        <a:rPr lang="it-IT" dirty="0" err="1"/>
                        <a:t>Avg</a:t>
                      </a:r>
                      <a:r>
                        <a:rPr lang="it-IT" dirty="0"/>
                        <a:t> f1-score(%)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tc>
                <a:tc hMerge="1">
                  <a:txBody>
                    <a:bodyPr/>
                    <a:lstStyle/>
                    <a:p>
                      <a:pPr algn="ctr"/>
                      <a:endParaRPr lang="en-US" dirty="0"/>
                    </a:p>
                  </a:txBody>
                  <a:tcPr/>
                </a:tc>
                <a:tc gridSpan="3">
                  <a:txBody>
                    <a:bodyPr/>
                    <a:lstStyle/>
                    <a:p>
                      <a:pPr algn="ctr"/>
                      <a:r>
                        <a:rPr lang="it-IT" dirty="0"/>
                        <a:t>ROC AUC(%)</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254728975"/>
                  </a:ext>
                </a:extLst>
              </a:tr>
              <a:tr h="305873">
                <a:tc>
                  <a:txBody>
                    <a:bodyPr/>
                    <a:lstStyle/>
                    <a:p>
                      <a:r>
                        <a:rPr lang="it-IT" dirty="0"/>
                        <a:t>Task</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KNN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RF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SVM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KNN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RF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SVM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KNN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RF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SVM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1130131"/>
                  </a:ext>
                </a:extLst>
              </a:tr>
              <a:tr h="519985">
                <a:tc>
                  <a:txBody>
                    <a:bodyPr/>
                    <a:lstStyle/>
                    <a:p>
                      <a:r>
                        <a:rPr lang="it-IT" dirty="0"/>
                        <a:t>Monk 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80.79</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u="none" strike="noStrike" cap="none" dirty="0">
                          <a:solidFill>
                            <a:schemeClr val="dk1"/>
                          </a:solidFill>
                          <a:effectLst/>
                          <a:sym typeface="Arial"/>
                        </a:rPr>
                        <a:t>96.30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100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u="none" strike="noStrike" cap="none" dirty="0">
                          <a:solidFill>
                            <a:schemeClr val="dk1"/>
                          </a:solidFill>
                          <a:effectLst/>
                          <a:sym typeface="Arial"/>
                        </a:rPr>
                        <a:t>80.63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u="none" strike="noStrike" cap="none" dirty="0">
                          <a:solidFill>
                            <a:schemeClr val="dk1"/>
                          </a:solidFill>
                          <a:effectLst/>
                          <a:sym typeface="Arial"/>
                        </a:rPr>
                        <a:t>96.29</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100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91.3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99.7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100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1935116"/>
                  </a:ext>
                </a:extLst>
              </a:tr>
              <a:tr h="519985">
                <a:tc>
                  <a:txBody>
                    <a:bodyPr/>
                    <a:lstStyle/>
                    <a:p>
                      <a:r>
                        <a:rPr lang="it-IT" dirty="0"/>
                        <a:t>Monk 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u="none" strike="noStrike" cap="none" dirty="0">
                          <a:solidFill>
                            <a:schemeClr val="dk1"/>
                          </a:solidFill>
                          <a:effectLst/>
                          <a:sym typeface="Arial"/>
                        </a:rPr>
                        <a:t>78.94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u="none" strike="noStrike" cap="none" dirty="0">
                          <a:solidFill>
                            <a:schemeClr val="dk1"/>
                          </a:solidFill>
                          <a:effectLst/>
                          <a:sym typeface="Arial"/>
                        </a:rPr>
                        <a:t>72.92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100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u="none" strike="noStrike" cap="none" dirty="0">
                          <a:solidFill>
                            <a:schemeClr val="tx1"/>
                          </a:solidFill>
                          <a:effectLst/>
                          <a:sym typeface="Arial"/>
                        </a:rPr>
                        <a:t>73.68</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u="none" strike="noStrike" cap="none" dirty="0">
                          <a:solidFill>
                            <a:schemeClr val="dk1"/>
                          </a:solidFill>
                          <a:effectLst/>
                          <a:sym typeface="Arial"/>
                        </a:rPr>
                        <a:t>69.37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100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85.3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82.7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92.8</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7343633"/>
                  </a:ext>
                </a:extLst>
              </a:tr>
              <a:tr h="519985">
                <a:tc>
                  <a:txBody>
                    <a:bodyPr/>
                    <a:lstStyle/>
                    <a:p>
                      <a:r>
                        <a:rPr lang="it-IT" dirty="0"/>
                        <a:t>Monk 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u="none" strike="noStrike" cap="none" dirty="0">
                          <a:solidFill>
                            <a:schemeClr val="dk1"/>
                          </a:solidFill>
                          <a:effectLst/>
                          <a:sym typeface="Arial"/>
                        </a:rPr>
                        <a:t>90.97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u="none" strike="noStrike" cap="none" dirty="0">
                          <a:solidFill>
                            <a:schemeClr val="dk1"/>
                          </a:solidFill>
                          <a:effectLst/>
                          <a:sym typeface="Arial"/>
                        </a:rPr>
                        <a:t>97.45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98.61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u="none" strike="noStrike" cap="none" dirty="0">
                          <a:solidFill>
                            <a:schemeClr val="dk1"/>
                          </a:solidFill>
                          <a:effectLst/>
                          <a:sym typeface="Arial"/>
                        </a:rPr>
                        <a:t>90.94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u="none" strike="noStrike" cap="none" dirty="0">
                          <a:solidFill>
                            <a:schemeClr val="dk1"/>
                          </a:solidFill>
                          <a:effectLst/>
                          <a:sym typeface="Arial"/>
                        </a:rPr>
                        <a:t>97.45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98.61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95.1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99.9</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t>99.9</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2777749"/>
                  </a:ext>
                </a:extLst>
              </a:tr>
            </a:tbl>
          </a:graphicData>
        </a:graphic>
      </p:graphicFrame>
      <p:sp>
        <p:nvSpPr>
          <p:cNvPr id="3" name="Google Shape;88;p17">
            <a:extLst>
              <a:ext uri="{FF2B5EF4-FFF2-40B4-BE49-F238E27FC236}">
                <a16:creationId xmlns:a16="http://schemas.microsoft.com/office/drawing/2014/main" id="{48E2AEF4-41DF-94C2-2634-CD628BF6F4ED}"/>
              </a:ext>
            </a:extLst>
          </p:cNvPr>
          <p:cNvSpPr txBox="1">
            <a:spLocks/>
          </p:cNvSpPr>
          <p:nvPr/>
        </p:nvSpPr>
        <p:spPr>
          <a:xfrm>
            <a:off x="311700" y="754381"/>
            <a:ext cx="8596800" cy="393601"/>
          </a:xfrm>
          <a:prstGeom prst="rect">
            <a:avLst/>
          </a:prstGeom>
          <a:noFill/>
          <a:ln>
            <a:noFill/>
          </a:ln>
        </p:spPr>
        <p:txBody>
          <a:bodyPr spcFirstLastPara="1" wrap="square" lIns="91425" tIns="91425" rIns="91425" bIns="91425" anchor="t"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5600" dirty="0"/>
              <a:t>For each best model we evaluate on test set: accuracy, classification report, confusion matrix, ROC curve</a:t>
            </a:r>
          </a:p>
          <a:p>
            <a:pPr>
              <a:buSzPct val="39285"/>
            </a:pPr>
            <a:endParaRPr lang="en-US" dirty="0"/>
          </a:p>
        </p:txBody>
      </p:sp>
    </p:spTree>
    <p:extLst>
      <p:ext uri="{BB962C8B-B14F-4D97-AF65-F5344CB8AC3E}">
        <p14:creationId xmlns:p14="http://schemas.microsoft.com/office/powerpoint/2010/main" val="2690126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1FC19896-6929-7067-977D-8C03E6ABE6BE}"/>
            </a:ext>
          </a:extLst>
        </p:cNvPr>
        <p:cNvGrpSpPr/>
        <p:nvPr/>
      </p:nvGrpSpPr>
      <p:grpSpPr>
        <a:xfrm>
          <a:off x="0" y="0"/>
          <a:ext cx="0" cy="0"/>
          <a:chOff x="0" y="0"/>
          <a:chExt cx="0" cy="0"/>
        </a:xfrm>
      </p:grpSpPr>
      <p:sp>
        <p:nvSpPr>
          <p:cNvPr id="88" name="Google Shape;88;p17">
            <a:extLst>
              <a:ext uri="{FF2B5EF4-FFF2-40B4-BE49-F238E27FC236}">
                <a16:creationId xmlns:a16="http://schemas.microsoft.com/office/drawing/2014/main" id="{85AD7A31-BCAB-A2E5-E02E-A1DD8B09A663}"/>
              </a:ext>
            </a:extLst>
          </p:cNvPr>
          <p:cNvSpPr txBox="1">
            <a:spLocks noGrp="1"/>
          </p:cNvSpPr>
          <p:nvPr>
            <p:ph type="title"/>
          </p:nvPr>
        </p:nvSpPr>
        <p:spPr>
          <a:xfrm>
            <a:off x="311700" y="190500"/>
            <a:ext cx="8520600" cy="393601"/>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US" dirty="0"/>
              <a:t>Monk Results Best Hyperparameters of Neural Network</a:t>
            </a:r>
          </a:p>
        </p:txBody>
      </p:sp>
      <p:sp>
        <p:nvSpPr>
          <p:cNvPr id="91" name="Google Shape;91;p17">
            <a:extLst>
              <a:ext uri="{FF2B5EF4-FFF2-40B4-BE49-F238E27FC236}">
                <a16:creationId xmlns:a16="http://schemas.microsoft.com/office/drawing/2014/main" id="{5DA9FA45-C88B-B067-46E5-994212EAC1DB}"/>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smtClean="0"/>
              <a:t>6</a:t>
            </a:fld>
            <a:endParaRPr lang="it"/>
          </a:p>
        </p:txBody>
      </p:sp>
      <p:graphicFrame>
        <p:nvGraphicFramePr>
          <p:cNvPr id="8" name="Table 7">
            <a:extLst>
              <a:ext uri="{FF2B5EF4-FFF2-40B4-BE49-F238E27FC236}">
                <a16:creationId xmlns:a16="http://schemas.microsoft.com/office/drawing/2014/main" id="{12A9A0B6-D799-A9C5-62DB-398BC939E9BA}"/>
              </a:ext>
            </a:extLst>
          </p:cNvPr>
          <p:cNvGraphicFramePr>
            <a:graphicFrameLocks noGrp="1"/>
          </p:cNvGraphicFramePr>
          <p:nvPr>
            <p:extLst>
              <p:ext uri="{D42A27DB-BD31-4B8C-83A1-F6EECF244321}">
                <p14:modId xmlns:p14="http://schemas.microsoft.com/office/powerpoint/2010/main" val="1728121751"/>
              </p:ext>
            </p:extLst>
          </p:nvPr>
        </p:nvGraphicFramePr>
        <p:xfrm>
          <a:off x="419100" y="701041"/>
          <a:ext cx="7940040" cy="4267963"/>
        </p:xfrm>
        <a:graphic>
          <a:graphicData uri="http://schemas.openxmlformats.org/drawingml/2006/table">
            <a:tbl>
              <a:tblPr firstRow="1" firstCol="1" bandRow="1">
                <a:tableStyleId>{2D5ABB26-0587-4C30-8999-92F81FD0307C}</a:tableStyleId>
              </a:tblPr>
              <a:tblGrid>
                <a:gridCol w="937260">
                  <a:extLst>
                    <a:ext uri="{9D8B030D-6E8A-4147-A177-3AD203B41FA5}">
                      <a16:colId xmlns:a16="http://schemas.microsoft.com/office/drawing/2014/main" val="2721710590"/>
                    </a:ext>
                  </a:extLst>
                </a:gridCol>
                <a:gridCol w="2012124">
                  <a:extLst>
                    <a:ext uri="{9D8B030D-6E8A-4147-A177-3AD203B41FA5}">
                      <a16:colId xmlns:a16="http://schemas.microsoft.com/office/drawing/2014/main" val="1278104168"/>
                    </a:ext>
                  </a:extLst>
                </a:gridCol>
                <a:gridCol w="2148396">
                  <a:extLst>
                    <a:ext uri="{9D8B030D-6E8A-4147-A177-3AD203B41FA5}">
                      <a16:colId xmlns:a16="http://schemas.microsoft.com/office/drawing/2014/main" val="690420154"/>
                    </a:ext>
                  </a:extLst>
                </a:gridCol>
                <a:gridCol w="1432560">
                  <a:extLst>
                    <a:ext uri="{9D8B030D-6E8A-4147-A177-3AD203B41FA5}">
                      <a16:colId xmlns:a16="http://schemas.microsoft.com/office/drawing/2014/main" val="1334052000"/>
                    </a:ext>
                  </a:extLst>
                </a:gridCol>
                <a:gridCol w="1409700">
                  <a:extLst>
                    <a:ext uri="{9D8B030D-6E8A-4147-A177-3AD203B41FA5}">
                      <a16:colId xmlns:a16="http://schemas.microsoft.com/office/drawing/2014/main" val="2181061137"/>
                    </a:ext>
                  </a:extLst>
                </a:gridCol>
              </a:tblGrid>
              <a:tr h="365395">
                <a:tc>
                  <a:txBody>
                    <a:bodyPr/>
                    <a:lstStyle/>
                    <a:p>
                      <a:pPr marL="0" marR="0" algn="l">
                        <a:lnSpc>
                          <a:spcPct val="115000"/>
                        </a:lnSpc>
                        <a:spcAft>
                          <a:spcPts val="800"/>
                        </a:spcAft>
                        <a:buNone/>
                      </a:pPr>
                      <a:r>
                        <a:rPr lang="en-US" sz="1400" kern="100" dirty="0">
                          <a:effectLst/>
                        </a:rPr>
                        <a:t>Task</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400" kern="100" dirty="0">
                          <a:effectLst/>
                        </a:rPr>
                        <a:t>Scikit Learn</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400" kern="100" dirty="0">
                          <a:effectLst/>
                        </a:rPr>
                        <a:t>  </a:t>
                      </a:r>
                      <a:r>
                        <a:rPr lang="en-US" sz="1400" kern="100" dirty="0" err="1">
                          <a:effectLst/>
                        </a:rPr>
                        <a:t>Keras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400" kern="100" dirty="0">
                          <a:effectLst/>
                        </a:rPr>
                        <a:t>Loss (TR/TS)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400" kern="100" dirty="0">
                          <a:effectLst/>
                        </a:rPr>
                        <a:t>Accuracy (TR/TS)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2373037"/>
                  </a:ext>
                </a:extLst>
              </a:tr>
              <a:tr h="822767">
                <a:tc>
                  <a:txBody>
                    <a:bodyPr/>
                    <a:lstStyle/>
                    <a:p>
                      <a:pPr marL="0" marR="0" algn="l">
                        <a:lnSpc>
                          <a:spcPct val="115000"/>
                        </a:lnSpc>
                        <a:spcAft>
                          <a:spcPts val="800"/>
                        </a:spcAft>
                        <a:buNone/>
                      </a:pPr>
                      <a:r>
                        <a:rPr lang="en-US" sz="1400" kern="100" dirty="0">
                          <a:effectLst/>
                        </a:rPr>
                        <a:t>Monk 1</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15000"/>
                        </a:lnSpc>
                        <a:spcBef>
                          <a:spcPts val="0"/>
                        </a:spcBef>
                        <a:spcAft>
                          <a:spcPts val="800"/>
                        </a:spcAft>
                        <a:buClr>
                          <a:srgbClr val="000000"/>
                        </a:buClr>
                        <a:buSzTx/>
                        <a:buFont typeface="Arial"/>
                        <a:buNone/>
                        <a:tabLst/>
                        <a:defRPr/>
                      </a:pPr>
                      <a:r>
                        <a:rPr lang="en-US" sz="1400" kern="100" dirty="0">
                          <a:effectLst/>
                        </a:rPr>
                        <a:t>unit=3, act=tanh, </a:t>
                      </a:r>
                      <a:r>
                        <a:rPr lang="en-US" sz="1400" kern="100" dirty="0" err="1">
                          <a:effectLst/>
                        </a:rPr>
                        <a:t>η_init</a:t>
                      </a:r>
                      <a:r>
                        <a:rPr lang="en-US" sz="1400" kern="100" dirty="0">
                          <a:effectLst/>
                        </a:rPr>
                        <a:t> =0.05, μ=0.9, batch=16</a:t>
                      </a:r>
                    </a:p>
                    <a:p>
                      <a:pPr marL="0" marR="0" algn="l">
                        <a:lnSpc>
                          <a:spcPct val="115000"/>
                        </a:lnSpc>
                        <a:spcAft>
                          <a:spcPts val="800"/>
                        </a:spcAft>
                        <a:buNone/>
                      </a:pP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400" kern="100" dirty="0">
                          <a:effectLst/>
                        </a:rPr>
                        <a:t>unit=3, act=tanh, η=0.1, μ=0.7, batch =16</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15000"/>
                        </a:lnSpc>
                        <a:spcBef>
                          <a:spcPts val="0"/>
                        </a:spcBef>
                        <a:spcAft>
                          <a:spcPts val="800"/>
                        </a:spcAft>
                        <a:buClr>
                          <a:srgbClr val="000000"/>
                        </a:buClr>
                        <a:buSzTx/>
                        <a:buFont typeface="Arial"/>
                        <a:buNone/>
                        <a:tabLst/>
                        <a:defRPr/>
                      </a:pPr>
                      <a:r>
                        <a:rPr lang="en-US" sz="1400" kern="100" dirty="0">
                          <a:effectLst/>
                        </a:rPr>
                        <a:t>0.0016 /0.0022</a:t>
                      </a:r>
                    </a:p>
                    <a:p>
                      <a:pPr marL="0" marR="0" lvl="0" indent="0" algn="l" defTabSz="914400" rtl="0" eaLnBrk="1" fontAlgn="auto" latinLnBrk="0" hangingPunct="1">
                        <a:lnSpc>
                          <a:spcPct val="115000"/>
                        </a:lnSpc>
                        <a:spcBef>
                          <a:spcPts val="0"/>
                        </a:spcBef>
                        <a:spcAft>
                          <a:spcPts val="800"/>
                        </a:spcAft>
                        <a:buClr>
                          <a:srgbClr val="000000"/>
                        </a:buClr>
                        <a:buSzTx/>
                        <a:buFont typeface="Arial"/>
                        <a:buNone/>
                        <a:tabLst/>
                        <a:defRPr/>
                      </a:pPr>
                      <a:r>
                        <a:rPr lang="en-US" sz="1400" b="0" i="0" u="none" strike="noStrike" cap="none" dirty="0">
                          <a:solidFill>
                            <a:schemeClr val="tx1"/>
                          </a:solidFill>
                          <a:effectLst/>
                          <a:latin typeface="+mn-lt"/>
                          <a:ea typeface="+mn-ea"/>
                          <a:cs typeface="+mn-cs"/>
                          <a:sym typeface="Arial"/>
                        </a:rPr>
                        <a:t>0.0032/0.0046</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l">
                        <a:lnSpc>
                          <a:spcPct val="115000"/>
                        </a:lnSpc>
                        <a:spcAft>
                          <a:spcPts val="800"/>
                        </a:spcAft>
                        <a:buNone/>
                      </a:pP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400" kern="100">
                          <a:effectLst/>
                        </a:rPr>
                        <a:t>100%/100%</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5692262"/>
                  </a:ext>
                </a:extLst>
              </a:tr>
              <a:tr h="950335">
                <a:tc>
                  <a:txBody>
                    <a:bodyPr/>
                    <a:lstStyle/>
                    <a:p>
                      <a:pPr marL="0" marR="0" algn="l">
                        <a:lnSpc>
                          <a:spcPct val="115000"/>
                        </a:lnSpc>
                        <a:spcAft>
                          <a:spcPts val="800"/>
                        </a:spcAft>
                        <a:buNone/>
                      </a:pPr>
                      <a:r>
                        <a:rPr lang="en-US" sz="1400" kern="100" dirty="0">
                          <a:effectLst/>
                        </a:rPr>
                        <a:t>Monk 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15000"/>
                        </a:lnSpc>
                        <a:spcBef>
                          <a:spcPts val="0"/>
                        </a:spcBef>
                        <a:spcAft>
                          <a:spcPts val="800"/>
                        </a:spcAft>
                        <a:buClr>
                          <a:srgbClr val="000000"/>
                        </a:buClr>
                        <a:buSzTx/>
                        <a:buFont typeface="Arial"/>
                        <a:buNone/>
                        <a:tabLst/>
                        <a:defRPr/>
                      </a:pPr>
                      <a:r>
                        <a:rPr lang="en-US" sz="1400" kern="100" dirty="0">
                          <a:effectLst/>
                        </a:rPr>
                        <a:t>unit=3, act=tanh, </a:t>
                      </a:r>
                      <a:r>
                        <a:rPr lang="en-US" sz="1400" kern="100" dirty="0" err="1">
                          <a:effectLst/>
                        </a:rPr>
                        <a:t>η_init</a:t>
                      </a:r>
                      <a:r>
                        <a:rPr lang="en-US" sz="1400" kern="100" dirty="0">
                          <a:effectLst/>
                        </a:rPr>
                        <a:t>=0.05, μ=0.9, batch=8</a:t>
                      </a:r>
                    </a:p>
                    <a:p>
                      <a:pPr marL="0" marR="0" algn="l">
                        <a:lnSpc>
                          <a:spcPct val="115000"/>
                        </a:lnSpc>
                        <a:spcAft>
                          <a:spcPts val="800"/>
                        </a:spcAft>
                        <a:buNone/>
                      </a:pP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400" kern="100" dirty="0">
                          <a:effectLst/>
                        </a:rPr>
                        <a:t>unit=3, act=</a:t>
                      </a:r>
                      <a:r>
                        <a:rPr lang="en-US" sz="1400" kern="100" dirty="0" err="1">
                          <a:effectLst/>
                        </a:rPr>
                        <a:t>ReLU</a:t>
                      </a:r>
                      <a:r>
                        <a:rPr lang="en-US" sz="1400" kern="100" dirty="0">
                          <a:effectLst/>
                        </a:rPr>
                        <a:t>, η=0.01, μ=0.7, batch= 16</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400" kern="100" dirty="0">
                          <a:effectLst/>
                        </a:rPr>
                        <a:t>0.0007/0.0008</a:t>
                      </a:r>
                    </a:p>
                    <a:p>
                      <a:pPr marL="0" marR="0" algn="l">
                        <a:lnSpc>
                          <a:spcPct val="115000"/>
                        </a:lnSpc>
                        <a:spcAft>
                          <a:spcPts val="800"/>
                        </a:spcAft>
                        <a:buNone/>
                      </a:pPr>
                      <a:r>
                        <a:rPr lang="en-US" sz="1400" b="0" i="0" u="none" strike="noStrike" cap="none" dirty="0">
                          <a:solidFill>
                            <a:schemeClr val="tx1"/>
                          </a:solidFill>
                          <a:effectLst/>
                          <a:latin typeface="+mn-lt"/>
                          <a:ea typeface="+mn-ea"/>
                          <a:cs typeface="+mn-cs"/>
                          <a:sym typeface="Arial"/>
                        </a:rPr>
                        <a:t>0.0363/0.0397</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400" kern="100" dirty="0">
                          <a:effectLst/>
                        </a:rPr>
                        <a:t>100%/100%</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729509"/>
                  </a:ext>
                </a:extLst>
              </a:tr>
              <a:tr h="950335">
                <a:tc>
                  <a:txBody>
                    <a:bodyPr/>
                    <a:lstStyle/>
                    <a:p>
                      <a:pPr marL="0" marR="0" algn="l">
                        <a:lnSpc>
                          <a:spcPct val="115000"/>
                        </a:lnSpc>
                        <a:spcAft>
                          <a:spcPts val="800"/>
                        </a:spcAft>
                        <a:buNone/>
                      </a:pPr>
                      <a:r>
                        <a:rPr lang="en-US" sz="1400" kern="100" dirty="0">
                          <a:effectLst/>
                        </a:rPr>
                        <a:t>Monk 3 (no reg)</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15000"/>
                        </a:lnSpc>
                        <a:spcBef>
                          <a:spcPts val="0"/>
                        </a:spcBef>
                        <a:spcAft>
                          <a:spcPts val="800"/>
                        </a:spcAft>
                        <a:buClr>
                          <a:srgbClr val="000000"/>
                        </a:buClr>
                        <a:buSzTx/>
                        <a:buFont typeface="Arial"/>
                        <a:buNone/>
                        <a:tabLst/>
                        <a:defRPr/>
                      </a:pPr>
                      <a:r>
                        <a:rPr lang="en-US" sz="1400" kern="100" dirty="0">
                          <a:effectLst/>
                        </a:rPr>
                        <a:t>unit=3, act=tanh, </a:t>
                      </a:r>
                      <a:r>
                        <a:rPr lang="en-US" sz="1400" kern="100" dirty="0" err="1">
                          <a:effectLst/>
                        </a:rPr>
                        <a:t>η_init</a:t>
                      </a:r>
                      <a:r>
                        <a:rPr lang="en-US" sz="1400" kern="100" dirty="0">
                          <a:effectLst/>
                        </a:rPr>
                        <a:t>=0.05, μ=0.9, batch=8</a:t>
                      </a:r>
                    </a:p>
                    <a:p>
                      <a:pPr marL="0" marR="0" algn="l">
                        <a:lnSpc>
                          <a:spcPct val="115000"/>
                        </a:lnSpc>
                        <a:spcAft>
                          <a:spcPts val="800"/>
                        </a:spcAft>
                        <a:buNone/>
                      </a:pP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400" kern="100" dirty="0">
                          <a:effectLst/>
                        </a:rPr>
                        <a:t>unit=3, act=tanh, η=0.01, μ=0.5, batch= 16</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400" kern="100" dirty="0">
                          <a:effectLst/>
                        </a:rPr>
                        <a:t> 0.0968/0.1099</a:t>
                      </a:r>
                    </a:p>
                    <a:p>
                      <a:pPr marL="0" marR="0" algn="l">
                        <a:lnSpc>
                          <a:spcPct val="115000"/>
                        </a:lnSpc>
                        <a:spcAft>
                          <a:spcPts val="800"/>
                        </a:spcAft>
                        <a:buNone/>
                      </a:pPr>
                      <a:r>
                        <a:rPr lang="en-US" sz="1400" b="0" i="0" u="none" strike="noStrike" cap="none" dirty="0">
                          <a:solidFill>
                            <a:schemeClr val="tx1"/>
                          </a:solidFill>
                          <a:effectLst/>
                          <a:latin typeface="+mn-lt"/>
                          <a:ea typeface="+mn-ea"/>
                          <a:cs typeface="+mn-cs"/>
                          <a:sym typeface="Arial"/>
                        </a:rPr>
                        <a:t>0.1331</a:t>
                      </a:r>
                      <a:r>
                        <a:rPr lang="en-US" sz="1400" kern="100" dirty="0">
                          <a:effectLst/>
                        </a:rPr>
                        <a:t> /</a:t>
                      </a:r>
                      <a:r>
                        <a:rPr lang="en-US" sz="1400" b="0" i="0" u="none" strike="noStrike" cap="none" dirty="0">
                          <a:solidFill>
                            <a:schemeClr val="tx1"/>
                          </a:solidFill>
                          <a:effectLst/>
                          <a:latin typeface="+mn-lt"/>
                          <a:ea typeface="+mn-ea"/>
                          <a:cs typeface="+mn-cs"/>
                          <a:sym typeface="Arial"/>
                        </a:rPr>
                        <a:t>0.1484</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400" kern="100" dirty="0">
                          <a:effectLst/>
                        </a:rPr>
                        <a:t>97.54%/96.53%</a:t>
                      </a:r>
                    </a:p>
                    <a:p>
                      <a:pPr marL="0" marR="0" algn="l">
                        <a:lnSpc>
                          <a:spcPct val="115000"/>
                        </a:lnSpc>
                        <a:spcAft>
                          <a:spcPts val="800"/>
                        </a:spcAft>
                        <a:buNone/>
                      </a:pPr>
                      <a:r>
                        <a:rPr lang="en-US" sz="1400" kern="100" dirty="0">
                          <a:effectLst/>
                        </a:rPr>
                        <a:t>95.90%/95.14%</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468847"/>
                  </a:ext>
                </a:extLst>
              </a:tr>
              <a:tr h="640713">
                <a:tc>
                  <a:txBody>
                    <a:bodyPr/>
                    <a:lstStyle/>
                    <a:p>
                      <a:pPr marL="0" marR="0" algn="l">
                        <a:lnSpc>
                          <a:spcPct val="115000"/>
                        </a:lnSpc>
                        <a:spcAft>
                          <a:spcPts val="800"/>
                        </a:spcAft>
                        <a:buNone/>
                      </a:pPr>
                      <a:r>
                        <a:rPr lang="en-US" sz="1400" kern="100" dirty="0">
                          <a:effectLst/>
                        </a:rPr>
                        <a:t>Monk 3 reg</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400" kern="100" dirty="0">
                          <a:effectLst/>
                        </a:rPr>
                        <a:t>unit=3, act=tanh, </a:t>
                      </a:r>
                      <a:r>
                        <a:rPr lang="en-US" sz="1400" kern="100" dirty="0" err="1">
                          <a:effectLst/>
                        </a:rPr>
                        <a:t>η_init</a:t>
                      </a:r>
                      <a:r>
                        <a:rPr lang="en-US" sz="1400" kern="100" dirty="0">
                          <a:effectLst/>
                        </a:rPr>
                        <a:t>=0.005, μ=0.9, λ=0.5 batch =8</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400" kern="100" dirty="0">
                          <a:effectLst/>
                        </a:rPr>
                        <a:t>unit=2, act=tanh, η=0.01, μ=0.5, λ=0.1, batch =16</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400" kern="100" dirty="0">
                          <a:effectLst/>
                        </a:rPr>
                        <a:t> </a:t>
                      </a:r>
                      <a:r>
                        <a:rPr lang="en-US" sz="1400" b="0" i="0" u="none" strike="noStrike" cap="none" dirty="0">
                          <a:solidFill>
                            <a:schemeClr val="tx1"/>
                          </a:solidFill>
                          <a:effectLst/>
                          <a:latin typeface="+mn-lt"/>
                          <a:ea typeface="+mn-ea"/>
                          <a:cs typeface="+mn-cs"/>
                          <a:sym typeface="Arial"/>
                        </a:rPr>
                        <a:t>0.3654/0.3414</a:t>
                      </a:r>
                      <a:r>
                        <a:rPr lang="en-US" sz="1400" kern="100" dirty="0">
                          <a:effectLst/>
                        </a:rPr>
                        <a:t> </a:t>
                      </a:r>
                    </a:p>
                    <a:p>
                      <a:pPr marL="0" marR="0" algn="l">
                        <a:lnSpc>
                          <a:spcPct val="115000"/>
                        </a:lnSpc>
                        <a:spcAft>
                          <a:spcPts val="800"/>
                        </a:spcAft>
                        <a:buNone/>
                      </a:pPr>
                      <a:r>
                        <a:rPr lang="en-US" sz="1400" b="0" i="0" u="none" strike="noStrike" cap="none" dirty="0">
                          <a:solidFill>
                            <a:schemeClr val="tx1"/>
                          </a:solidFill>
                          <a:effectLst/>
                          <a:latin typeface="+mn-lt"/>
                          <a:ea typeface="+mn-ea"/>
                          <a:cs typeface="+mn-cs"/>
                          <a:sym typeface="Arial"/>
                        </a:rPr>
                        <a:t>0.340/0.3011</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400" kern="100" dirty="0">
                          <a:effectLst/>
                        </a:rPr>
                        <a:t>93.44%/97.22%</a:t>
                      </a:r>
                    </a:p>
                    <a:p>
                      <a:pPr marL="0" marR="0" algn="l">
                        <a:lnSpc>
                          <a:spcPct val="115000"/>
                        </a:lnSpc>
                        <a:spcAft>
                          <a:spcPts val="800"/>
                        </a:spcAft>
                        <a:buNone/>
                      </a:pPr>
                      <a:r>
                        <a:rPr lang="en-US" sz="1400" kern="100" dirty="0">
                          <a:effectLst/>
                        </a:rPr>
                        <a:t>93.44%/97.22%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9259086"/>
                  </a:ext>
                </a:extLst>
              </a:tr>
            </a:tbl>
          </a:graphicData>
        </a:graphic>
      </p:graphicFrame>
    </p:spTree>
    <p:extLst>
      <p:ext uri="{BB962C8B-B14F-4D97-AF65-F5344CB8AC3E}">
        <p14:creationId xmlns:p14="http://schemas.microsoft.com/office/powerpoint/2010/main" val="3731277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11700" y="338959"/>
            <a:ext cx="8520600" cy="393600"/>
          </a:xfrm>
        </p:spPr>
        <p:txBody>
          <a:bodyPr spcFirstLastPara="1" wrap="square" lIns="91425" tIns="91425" rIns="91425" bIns="91425" anchor="ctr" anchorCtr="0">
            <a:normAutofit fontScale="90000"/>
          </a:bodyPr>
          <a:lstStyle/>
          <a:p>
            <a:pPr marL="0" lvl="0" indent="0" rtl="0">
              <a:lnSpc>
                <a:spcPct val="90000"/>
              </a:lnSpc>
              <a:spcBef>
                <a:spcPts val="0"/>
              </a:spcBef>
              <a:spcAft>
                <a:spcPts val="0"/>
              </a:spcAft>
              <a:buSzPct val="111111"/>
              <a:buNone/>
            </a:pPr>
            <a:r>
              <a:rPr lang="it-IT" sz="2800" dirty="0"/>
              <a:t>Learning curve of Monk 1 &amp; 2 </a:t>
            </a:r>
            <a:endParaRPr lang="en-US" sz="2800" dirty="0"/>
          </a:p>
        </p:txBody>
      </p:sp>
      <p:sp>
        <p:nvSpPr>
          <p:cNvPr id="99" name="Google Shape;99;p18"/>
          <p:cNvSpPr txBox="1">
            <a:spLocks noGrp="1"/>
          </p:cNvSpPr>
          <p:nvPr>
            <p:ph type="sldNum" idx="12"/>
          </p:nvPr>
        </p:nvSpPr>
        <p:spPr>
          <a:xfrm>
            <a:off x="8472458" y="4663217"/>
            <a:ext cx="548700" cy="393600"/>
          </a:xfrm>
        </p:spPr>
        <p:txBody>
          <a:bodyPr spcFirstLastPara="1" wrap="square" lIns="91425" tIns="91425" rIns="91425" bIns="91425" anchor="ctr" anchorCtr="0">
            <a:normAutofit/>
          </a:bodyPr>
          <a:lstStyle/>
          <a:p>
            <a:pPr marL="0" lvl="0" indent="0" rtl="0">
              <a:lnSpc>
                <a:spcPct val="90000"/>
              </a:lnSpc>
              <a:spcBef>
                <a:spcPts val="0"/>
              </a:spcBef>
              <a:spcAft>
                <a:spcPts val="600"/>
              </a:spcAft>
              <a:buSzPts val="1000"/>
              <a:buNone/>
            </a:pPr>
            <a:fld id="{00000000-1234-1234-1234-123412341234}" type="slidenum">
              <a:rPr lang="it" sz="900"/>
              <a:pPr marL="0" lvl="0" indent="0" rtl="0">
                <a:lnSpc>
                  <a:spcPct val="90000"/>
                </a:lnSpc>
                <a:spcBef>
                  <a:spcPts val="0"/>
                </a:spcBef>
                <a:spcAft>
                  <a:spcPts val="600"/>
                </a:spcAft>
                <a:buSzPts val="1000"/>
                <a:buNone/>
              </a:pPr>
              <a:t>7</a:t>
            </a:fld>
            <a:endParaRPr lang="it" sz="900"/>
          </a:p>
        </p:txBody>
      </p:sp>
      <p:pic>
        <p:nvPicPr>
          <p:cNvPr id="29" name="Picture 28">
            <a:extLst>
              <a:ext uri="{FF2B5EF4-FFF2-40B4-BE49-F238E27FC236}">
                <a16:creationId xmlns:a16="http://schemas.microsoft.com/office/drawing/2014/main" id="{8D6F14A2-3448-FFD0-6455-B23FFA494859}"/>
              </a:ext>
            </a:extLst>
          </p:cNvPr>
          <p:cNvPicPr>
            <a:picLocks noChangeAspect="1"/>
          </p:cNvPicPr>
          <p:nvPr/>
        </p:nvPicPr>
        <p:blipFill>
          <a:blip r:embed="rId3"/>
          <a:stretch>
            <a:fillRect/>
          </a:stretch>
        </p:blipFill>
        <p:spPr>
          <a:xfrm>
            <a:off x="1308537" y="767996"/>
            <a:ext cx="6169047" cy="1929891"/>
          </a:xfrm>
          <a:prstGeom prst="rect">
            <a:avLst/>
          </a:prstGeom>
        </p:spPr>
      </p:pic>
      <p:pic>
        <p:nvPicPr>
          <p:cNvPr id="31" name="Picture 30">
            <a:extLst>
              <a:ext uri="{FF2B5EF4-FFF2-40B4-BE49-F238E27FC236}">
                <a16:creationId xmlns:a16="http://schemas.microsoft.com/office/drawing/2014/main" id="{BC7D3312-AC35-252F-5A61-5056A062CFCD}"/>
              </a:ext>
            </a:extLst>
          </p:cNvPr>
          <p:cNvPicPr>
            <a:picLocks noChangeAspect="1"/>
          </p:cNvPicPr>
          <p:nvPr/>
        </p:nvPicPr>
        <p:blipFill>
          <a:blip r:embed="rId4"/>
          <a:stretch>
            <a:fillRect/>
          </a:stretch>
        </p:blipFill>
        <p:spPr>
          <a:xfrm>
            <a:off x="1308537" y="2697887"/>
            <a:ext cx="6303002" cy="22190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0CC71B2-87E7-B770-5897-BEC6D778DD50}"/>
            </a:ext>
          </a:extLst>
        </p:cNvPr>
        <p:cNvGrpSpPr/>
        <p:nvPr/>
      </p:nvGrpSpPr>
      <p:grpSpPr>
        <a:xfrm>
          <a:off x="0" y="0"/>
          <a:ext cx="0" cy="0"/>
          <a:chOff x="0" y="0"/>
          <a:chExt cx="0" cy="0"/>
        </a:xfrm>
      </p:grpSpPr>
      <p:sp>
        <p:nvSpPr>
          <p:cNvPr id="96" name="Google Shape;96;p18">
            <a:extLst>
              <a:ext uri="{FF2B5EF4-FFF2-40B4-BE49-F238E27FC236}">
                <a16:creationId xmlns:a16="http://schemas.microsoft.com/office/drawing/2014/main" id="{EF1D7D13-0E05-B59D-5820-51EA68081F5E}"/>
              </a:ext>
            </a:extLst>
          </p:cNvPr>
          <p:cNvSpPr txBox="1">
            <a:spLocks noGrp="1"/>
          </p:cNvSpPr>
          <p:nvPr>
            <p:ph type="title"/>
          </p:nvPr>
        </p:nvSpPr>
        <p:spPr>
          <a:xfrm>
            <a:off x="1043939" y="71997"/>
            <a:ext cx="7339043" cy="572700"/>
          </a:xfrm>
        </p:spPr>
        <p:txBody>
          <a:bodyPr spcFirstLastPara="1" wrap="square" lIns="91425" tIns="91425" rIns="91425" bIns="91425" anchor="ctr" anchorCtr="0">
            <a:normAutofit fontScale="90000"/>
          </a:bodyPr>
          <a:lstStyle/>
          <a:p>
            <a:pPr marL="0" lvl="0" indent="0" rtl="0">
              <a:lnSpc>
                <a:spcPct val="90000"/>
              </a:lnSpc>
              <a:spcBef>
                <a:spcPts val="0"/>
              </a:spcBef>
              <a:spcAft>
                <a:spcPts val="0"/>
              </a:spcAft>
              <a:buSzPct val="111111"/>
              <a:buNone/>
            </a:pPr>
            <a:r>
              <a:rPr lang="it-IT" sz="2800" dirty="0"/>
              <a:t>Learning curve of Monk 3 (with and </a:t>
            </a:r>
            <a:r>
              <a:rPr lang="it-IT" sz="2800" dirty="0" err="1"/>
              <a:t>without</a:t>
            </a:r>
            <a:r>
              <a:rPr lang="it-IT" sz="2800" dirty="0"/>
              <a:t> reg)</a:t>
            </a:r>
            <a:endParaRPr lang="en-US" sz="2800" dirty="0"/>
          </a:p>
        </p:txBody>
      </p:sp>
      <p:sp>
        <p:nvSpPr>
          <p:cNvPr id="99" name="Google Shape;99;p18">
            <a:extLst>
              <a:ext uri="{FF2B5EF4-FFF2-40B4-BE49-F238E27FC236}">
                <a16:creationId xmlns:a16="http://schemas.microsoft.com/office/drawing/2014/main" id="{A0DB2A47-BBA3-155A-6763-753AAC3DCF08}"/>
              </a:ext>
            </a:extLst>
          </p:cNvPr>
          <p:cNvSpPr txBox="1">
            <a:spLocks noGrp="1"/>
          </p:cNvSpPr>
          <p:nvPr>
            <p:ph type="sldNum" idx="12"/>
          </p:nvPr>
        </p:nvSpPr>
        <p:spPr>
          <a:xfrm>
            <a:off x="8472458" y="4663217"/>
            <a:ext cx="548700" cy="393600"/>
          </a:xfrm>
        </p:spPr>
        <p:txBody>
          <a:bodyPr spcFirstLastPara="1" wrap="square" lIns="91425" tIns="91425" rIns="91425" bIns="91425" anchor="ctr" anchorCtr="0">
            <a:normAutofit/>
          </a:bodyPr>
          <a:lstStyle/>
          <a:p>
            <a:pPr marL="0" lvl="0" indent="0" rtl="0">
              <a:lnSpc>
                <a:spcPct val="90000"/>
              </a:lnSpc>
              <a:spcBef>
                <a:spcPts val="0"/>
              </a:spcBef>
              <a:spcAft>
                <a:spcPts val="600"/>
              </a:spcAft>
              <a:buSzPts val="1000"/>
              <a:buNone/>
            </a:pPr>
            <a:fld id="{00000000-1234-1234-1234-123412341234}" type="slidenum">
              <a:rPr lang="it" sz="900"/>
              <a:pPr marL="0" lvl="0" indent="0" rtl="0">
                <a:lnSpc>
                  <a:spcPct val="90000"/>
                </a:lnSpc>
                <a:spcBef>
                  <a:spcPts val="0"/>
                </a:spcBef>
                <a:spcAft>
                  <a:spcPts val="600"/>
                </a:spcAft>
                <a:buSzPts val="1000"/>
                <a:buNone/>
              </a:pPr>
              <a:t>8</a:t>
            </a:fld>
            <a:endParaRPr lang="it" sz="900"/>
          </a:p>
        </p:txBody>
      </p:sp>
      <p:grpSp>
        <p:nvGrpSpPr>
          <p:cNvPr id="3" name="Group 2">
            <a:extLst>
              <a:ext uri="{FF2B5EF4-FFF2-40B4-BE49-F238E27FC236}">
                <a16:creationId xmlns:a16="http://schemas.microsoft.com/office/drawing/2014/main" id="{3A4B723B-F023-2C43-951A-B291FACEB3D1}"/>
              </a:ext>
            </a:extLst>
          </p:cNvPr>
          <p:cNvGrpSpPr/>
          <p:nvPr/>
        </p:nvGrpSpPr>
        <p:grpSpPr>
          <a:xfrm>
            <a:off x="1454956" y="529203"/>
            <a:ext cx="6071872" cy="2035011"/>
            <a:chOff x="1454956" y="529203"/>
            <a:chExt cx="6071872" cy="2035011"/>
          </a:xfrm>
        </p:grpSpPr>
        <p:pic>
          <p:nvPicPr>
            <p:cNvPr id="7" name="Picture 6">
              <a:extLst>
                <a:ext uri="{FF2B5EF4-FFF2-40B4-BE49-F238E27FC236}">
                  <a16:creationId xmlns:a16="http://schemas.microsoft.com/office/drawing/2014/main" id="{E5BFCF62-62CC-A7ED-74FB-A0F9B45DEF98}"/>
                </a:ext>
              </a:extLst>
            </p:cNvPr>
            <p:cNvPicPr>
              <a:picLocks noChangeAspect="1"/>
            </p:cNvPicPr>
            <p:nvPr/>
          </p:nvPicPr>
          <p:blipFill>
            <a:blip r:embed="rId3"/>
            <a:srcRect r="260" b="-3"/>
            <a:stretch>
              <a:fillRect/>
            </a:stretch>
          </p:blipFill>
          <p:spPr>
            <a:xfrm>
              <a:off x="4519239" y="544273"/>
              <a:ext cx="3007589" cy="2019941"/>
            </a:xfrm>
            <a:prstGeom prst="rect">
              <a:avLst/>
            </a:prstGeom>
            <a:noFill/>
            <a:ln>
              <a:noFill/>
            </a:ln>
          </p:spPr>
        </p:pic>
        <p:pic>
          <p:nvPicPr>
            <p:cNvPr id="5" name="Picture 4">
              <a:extLst>
                <a:ext uri="{FF2B5EF4-FFF2-40B4-BE49-F238E27FC236}">
                  <a16:creationId xmlns:a16="http://schemas.microsoft.com/office/drawing/2014/main" id="{8207E5AE-5C8D-97AD-BA2B-986067DCC078}"/>
                </a:ext>
              </a:extLst>
            </p:cNvPr>
            <p:cNvPicPr>
              <a:picLocks noChangeAspect="1"/>
            </p:cNvPicPr>
            <p:nvPr/>
          </p:nvPicPr>
          <p:blipFill>
            <a:blip r:embed="rId4"/>
            <a:srcRect l="213" r="47" b="-3"/>
            <a:stretch>
              <a:fillRect/>
            </a:stretch>
          </p:blipFill>
          <p:spPr>
            <a:xfrm>
              <a:off x="1454956" y="529203"/>
              <a:ext cx="2817499" cy="2035011"/>
            </a:xfrm>
            <a:prstGeom prst="rect">
              <a:avLst/>
            </a:prstGeom>
            <a:noFill/>
            <a:ln>
              <a:noFill/>
            </a:ln>
          </p:spPr>
        </p:pic>
      </p:grpSp>
      <p:grpSp>
        <p:nvGrpSpPr>
          <p:cNvPr id="2" name="Group 1">
            <a:extLst>
              <a:ext uri="{FF2B5EF4-FFF2-40B4-BE49-F238E27FC236}">
                <a16:creationId xmlns:a16="http://schemas.microsoft.com/office/drawing/2014/main" id="{4E30466F-F594-7693-6998-41029CCF690C}"/>
              </a:ext>
            </a:extLst>
          </p:cNvPr>
          <p:cNvGrpSpPr/>
          <p:nvPr/>
        </p:nvGrpSpPr>
        <p:grpSpPr>
          <a:xfrm>
            <a:off x="1512106" y="2618194"/>
            <a:ext cx="6014722" cy="2035011"/>
            <a:chOff x="1393997" y="2653957"/>
            <a:chExt cx="6014722" cy="2035011"/>
          </a:xfrm>
        </p:grpSpPr>
        <p:pic>
          <p:nvPicPr>
            <p:cNvPr id="9" name="Picture 8">
              <a:extLst>
                <a:ext uri="{FF2B5EF4-FFF2-40B4-BE49-F238E27FC236}">
                  <a16:creationId xmlns:a16="http://schemas.microsoft.com/office/drawing/2014/main" id="{C95EBAD8-6BDC-C2A8-F387-9B7058DAB7EB}"/>
                </a:ext>
              </a:extLst>
            </p:cNvPr>
            <p:cNvPicPr>
              <a:picLocks noChangeAspect="1"/>
            </p:cNvPicPr>
            <p:nvPr/>
          </p:nvPicPr>
          <p:blipFill>
            <a:blip r:embed="rId5"/>
            <a:stretch>
              <a:fillRect/>
            </a:stretch>
          </p:blipFill>
          <p:spPr>
            <a:xfrm>
              <a:off x="1393997" y="2679709"/>
              <a:ext cx="2817498" cy="1983508"/>
            </a:xfrm>
            <a:prstGeom prst="rect">
              <a:avLst/>
            </a:prstGeom>
          </p:spPr>
        </p:pic>
        <p:pic>
          <p:nvPicPr>
            <p:cNvPr id="11" name="Picture 10">
              <a:extLst>
                <a:ext uri="{FF2B5EF4-FFF2-40B4-BE49-F238E27FC236}">
                  <a16:creationId xmlns:a16="http://schemas.microsoft.com/office/drawing/2014/main" id="{E8662FCE-AAD4-F3DE-4F90-F933B732C41C}"/>
                </a:ext>
              </a:extLst>
            </p:cNvPr>
            <p:cNvPicPr>
              <a:picLocks noChangeAspect="1"/>
            </p:cNvPicPr>
            <p:nvPr/>
          </p:nvPicPr>
          <p:blipFill>
            <a:blip r:embed="rId6"/>
            <a:stretch>
              <a:fillRect/>
            </a:stretch>
          </p:blipFill>
          <p:spPr>
            <a:xfrm>
              <a:off x="4414174" y="2653957"/>
              <a:ext cx="2994545" cy="2035011"/>
            </a:xfrm>
            <a:prstGeom prst="rect">
              <a:avLst/>
            </a:prstGeom>
          </p:spPr>
        </p:pic>
      </p:grpSp>
    </p:spTree>
    <p:extLst>
      <p:ext uri="{BB962C8B-B14F-4D97-AF65-F5344CB8AC3E}">
        <p14:creationId xmlns:p14="http://schemas.microsoft.com/office/powerpoint/2010/main" val="3177583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it"/>
              <a:t>CUP Validation schema: data splitting</a:t>
            </a:r>
            <a:endParaRPr/>
          </a:p>
        </p:txBody>
      </p:sp>
      <p:sp>
        <p:nvSpPr>
          <p:cNvPr id="105" name="Google Shape;105;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114300" lvl="0" indent="0" algn="just">
              <a:spcBef>
                <a:spcPts val="1200"/>
              </a:spcBef>
              <a:buClr>
                <a:schemeClr val="dk1"/>
              </a:buClr>
              <a:buNone/>
            </a:pPr>
            <a:r>
              <a:rPr lang="en-US" sz="1400" dirty="0">
                <a:solidFill>
                  <a:schemeClr val="tx1"/>
                </a:solidFill>
              </a:rPr>
              <a:t>We split the dataset provided in TR and TS (as below). We use </a:t>
            </a:r>
            <a:r>
              <a:rPr lang="en-US" sz="1400" dirty="0" err="1">
                <a:solidFill>
                  <a:schemeClr val="tx1"/>
                </a:solidFill>
              </a:rPr>
              <a:t>KFold</a:t>
            </a:r>
            <a:r>
              <a:rPr lang="en-US" sz="1400" dirty="0">
                <a:solidFill>
                  <a:schemeClr val="tx1"/>
                </a:solidFill>
              </a:rPr>
              <a:t> CV for ML-Cup, with a number of folds equal to 5. We use the method from the </a:t>
            </a:r>
            <a:r>
              <a:rPr lang="en-US" sz="1400" dirty="0" err="1">
                <a:solidFill>
                  <a:schemeClr val="tx1"/>
                </a:solidFill>
              </a:rPr>
              <a:t>sklearn</a:t>
            </a:r>
            <a:r>
              <a:rPr lang="en-US" sz="1400" dirty="0">
                <a:solidFill>
                  <a:schemeClr val="tx1"/>
                </a:solidFill>
              </a:rPr>
              <a:t> library that allows us to shuffle the records before splitting them into folds. This approach is used for all methods from KNN, Random Forest, </a:t>
            </a:r>
            <a:r>
              <a:rPr lang="en-US" sz="1400" dirty="0" err="1">
                <a:solidFill>
                  <a:schemeClr val="tx1"/>
                </a:solidFill>
              </a:rPr>
              <a:t>XGBoost</a:t>
            </a:r>
            <a:r>
              <a:rPr lang="en-US" sz="1400" dirty="0">
                <a:solidFill>
                  <a:schemeClr val="tx1"/>
                </a:solidFill>
              </a:rPr>
              <a:t>, SVR, Neural Networks. Finally, we retrain the best model over the whole training set.</a:t>
            </a:r>
            <a:endParaRPr lang="it" sz="1400" dirty="0">
              <a:solidFill>
                <a:schemeClr val="tx1"/>
              </a:solidFill>
            </a:endParaRPr>
          </a:p>
          <a:p>
            <a:pPr marL="0" lvl="0" indent="0" algn="l" rtl="0">
              <a:lnSpc>
                <a:spcPct val="115000"/>
              </a:lnSpc>
              <a:spcBef>
                <a:spcPts val="1200"/>
              </a:spcBef>
              <a:spcAft>
                <a:spcPts val="1200"/>
              </a:spcAft>
              <a:buSzPts val="1800"/>
              <a:buNone/>
            </a:pPr>
            <a:endParaRPr dirty="0">
              <a:solidFill>
                <a:schemeClr val="dk1"/>
              </a:solidFill>
            </a:endParaRPr>
          </a:p>
        </p:txBody>
      </p:sp>
      <p:sp>
        <p:nvSpPr>
          <p:cNvPr id="106" name="Google Shape;10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9</a:t>
            </a:fld>
            <a:endParaRPr/>
          </a:p>
        </p:txBody>
      </p:sp>
      <p:pic>
        <p:nvPicPr>
          <p:cNvPr id="107" name="Google Shape;107;p19"/>
          <p:cNvPicPr preferRelativeResize="0"/>
          <p:nvPr/>
        </p:nvPicPr>
        <p:blipFill rotWithShape="1">
          <a:blip r:embed="rId3">
            <a:alphaModFix/>
          </a:blip>
          <a:srcRect/>
          <a:stretch/>
        </p:blipFill>
        <p:spPr>
          <a:xfrm>
            <a:off x="1360153" y="2860675"/>
            <a:ext cx="4510449" cy="71240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311700" y="12137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it" dirty="0"/>
              <a:t>CUP Validation schema: model selection</a:t>
            </a:r>
            <a:endParaRPr dirty="0"/>
          </a:p>
        </p:txBody>
      </p:sp>
      <p:sp>
        <p:nvSpPr>
          <p:cNvPr id="113" name="Google Shape;113;p20"/>
          <p:cNvSpPr txBox="1">
            <a:spLocks noGrp="1"/>
          </p:cNvSpPr>
          <p:nvPr>
            <p:ph type="body" idx="1"/>
          </p:nvPr>
        </p:nvSpPr>
        <p:spPr>
          <a:xfrm>
            <a:off x="311700" y="694070"/>
            <a:ext cx="8520600" cy="3874805"/>
          </a:xfrm>
          <a:prstGeom prst="rect">
            <a:avLst/>
          </a:prstGeom>
          <a:noFill/>
          <a:ln>
            <a:noFill/>
          </a:ln>
        </p:spPr>
        <p:txBody>
          <a:bodyPr spcFirstLastPara="1" wrap="square" lIns="91425" tIns="91425" rIns="91425" bIns="91425" anchor="t" anchorCtr="0">
            <a:normAutofit/>
          </a:bodyPr>
          <a:lstStyle/>
          <a:p>
            <a:pPr marL="0" lvl="0" indent="0" algn="just">
              <a:buNone/>
            </a:pPr>
            <a:r>
              <a:rPr lang="en-US" sz="1400" dirty="0">
                <a:solidFill>
                  <a:schemeClr val="dk1"/>
                </a:solidFill>
              </a:rPr>
              <a:t>For KNN Regressor, we use Degrees of freedom plot to choose best possible k. For SVR, Random </a:t>
            </a:r>
            <a:r>
              <a:rPr lang="en-US" sz="1400" dirty="0">
                <a:solidFill>
                  <a:schemeClr val="tx1"/>
                </a:solidFill>
              </a:rPr>
              <a:t>Forest, </a:t>
            </a:r>
            <a:r>
              <a:rPr lang="en-US" sz="1400" dirty="0" err="1">
                <a:solidFill>
                  <a:schemeClr val="tx1"/>
                </a:solidFill>
              </a:rPr>
              <a:t>XGBoost</a:t>
            </a:r>
            <a:r>
              <a:rPr lang="en-US" sz="1400" dirty="0">
                <a:solidFill>
                  <a:schemeClr val="tx1"/>
                </a:solidFill>
              </a:rPr>
              <a:t>, we adjust each hyperparameter (such as C, gamma, epsilon for SVR) individually while keeping the others fixed. After evaluating performance through cross-validation, we select the best value for each hyperparameter. We also monitor both train MEE and test MEE to ensure there is no overfitting. These values are then used as the basis for the subsequent, more detailed grid search.</a:t>
            </a:r>
            <a:endParaRPr sz="1400" dirty="0">
              <a:solidFill>
                <a:schemeClr val="tx1"/>
              </a:solidFill>
            </a:endParaRPr>
          </a:p>
        </p:txBody>
      </p:sp>
      <p:sp>
        <p:nvSpPr>
          <p:cNvPr id="114" name="Google Shape;114;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10</a:t>
            </a:fld>
            <a:endParaRPr/>
          </a:p>
        </p:txBody>
      </p:sp>
      <p:graphicFrame>
        <p:nvGraphicFramePr>
          <p:cNvPr id="2" name="Table 1">
            <a:extLst>
              <a:ext uri="{FF2B5EF4-FFF2-40B4-BE49-F238E27FC236}">
                <a16:creationId xmlns:a16="http://schemas.microsoft.com/office/drawing/2014/main" id="{AF2CC9C8-7204-A477-B567-13D82ED65017}"/>
              </a:ext>
            </a:extLst>
          </p:cNvPr>
          <p:cNvGraphicFramePr>
            <a:graphicFrameLocks noGrp="1"/>
          </p:cNvGraphicFramePr>
          <p:nvPr>
            <p:extLst>
              <p:ext uri="{D42A27DB-BD31-4B8C-83A1-F6EECF244321}">
                <p14:modId xmlns:p14="http://schemas.microsoft.com/office/powerpoint/2010/main" val="2399471263"/>
              </p:ext>
            </p:extLst>
          </p:nvPr>
        </p:nvGraphicFramePr>
        <p:xfrm>
          <a:off x="311700" y="2044931"/>
          <a:ext cx="8320236" cy="2746525"/>
        </p:xfrm>
        <a:graphic>
          <a:graphicData uri="http://schemas.openxmlformats.org/drawingml/2006/table">
            <a:tbl>
              <a:tblPr firstRow="1" bandRow="1">
                <a:tableStyleId>{2D5ABB26-0587-4C30-8999-92F81FD0307C}</a:tableStyleId>
              </a:tblPr>
              <a:tblGrid>
                <a:gridCol w="1698007">
                  <a:extLst>
                    <a:ext uri="{9D8B030D-6E8A-4147-A177-3AD203B41FA5}">
                      <a16:colId xmlns:a16="http://schemas.microsoft.com/office/drawing/2014/main" val="2514604164"/>
                    </a:ext>
                  </a:extLst>
                </a:gridCol>
                <a:gridCol w="6622229">
                  <a:extLst>
                    <a:ext uri="{9D8B030D-6E8A-4147-A177-3AD203B41FA5}">
                      <a16:colId xmlns:a16="http://schemas.microsoft.com/office/drawing/2014/main" val="90098710"/>
                    </a:ext>
                  </a:extLst>
                </a:gridCol>
              </a:tblGrid>
              <a:tr h="271549">
                <a:tc>
                  <a:txBody>
                    <a:bodyPr/>
                    <a:lstStyle/>
                    <a:p>
                      <a:pPr algn="ctr"/>
                      <a:r>
                        <a:rPr lang="en-US" b="1" dirty="0"/>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Hyper parameters range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3625473"/>
                  </a:ext>
                </a:extLst>
              </a:tr>
              <a:tr h="673885">
                <a:tc>
                  <a:txBody>
                    <a:bodyPr/>
                    <a:lstStyle/>
                    <a:p>
                      <a:r>
                        <a:rPr lang="en-US" b="1" i="1" dirty="0"/>
                        <a:t>KNN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err="1"/>
                        <a:t>K_neighbors</a:t>
                      </a:r>
                      <a:r>
                        <a:rPr lang="en-US" b="0" dirty="0"/>
                        <a:t>: (5, 7, 9, 11, 15, 21, 31, 41, 51); </a:t>
                      </a:r>
                      <a:r>
                        <a:rPr lang="en-US" b="0" dirty="0" err="1"/>
                        <a:t>Knn_weights</a:t>
                      </a:r>
                      <a:r>
                        <a:rPr lang="en-US" b="0" dirty="0"/>
                        <a:t>: (uniform, distance)</a:t>
                      </a:r>
                    </a:p>
                    <a:p>
                      <a:r>
                        <a:rPr lang="en-US" b="0" dirty="0" err="1"/>
                        <a:t>Knn_p</a:t>
                      </a:r>
                      <a:r>
                        <a:rPr lang="en-US" b="0" dirty="0"/>
                        <a:t>: (1,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5029140"/>
                  </a:ext>
                </a:extLst>
              </a:tr>
              <a:tr h="591866">
                <a:tc>
                  <a:txBody>
                    <a:bodyPr/>
                    <a:lstStyle/>
                    <a:p>
                      <a:r>
                        <a:rPr lang="en-US" b="1" i="1" dirty="0"/>
                        <a:t>SVR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t> gamma:   [0.1, 0.3, 0.37, 0.4, 0.5] </a:t>
                      </a:r>
                    </a:p>
                    <a:p>
                      <a:r>
                        <a:rPr lang="en-US" b="0" dirty="0"/>
                        <a:t> C:       [30, 50, 80, 120, 100, 300, 500, 1000]</a:t>
                      </a:r>
                    </a:p>
                    <a:p>
                      <a:r>
                        <a:rPr lang="en-US" b="0" dirty="0"/>
                        <a:t> epsilon: [0.3, 0.6, 1.0, 1.5, 2.0, 3.0, 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1603110"/>
                  </a:ext>
                </a:extLst>
              </a:tr>
              <a:tr h="429411">
                <a:tc>
                  <a:txBody>
                    <a:bodyPr/>
                    <a:lstStyle/>
                    <a:p>
                      <a:r>
                        <a:rPr lang="en-US" b="1" i="1" dirty="0"/>
                        <a:t>Random Forest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err="1"/>
                        <a:t>n_estimators</a:t>
                      </a:r>
                      <a:r>
                        <a:rPr lang="en-US" b="0" dirty="0"/>
                        <a:t>: [100, 200],    </a:t>
                      </a:r>
                      <a:r>
                        <a:rPr lang="en-US" b="0" dirty="0" err="1"/>
                        <a:t>max_depth</a:t>
                      </a:r>
                      <a:r>
                        <a:rPr lang="en-US" b="0" dirty="0"/>
                        <a:t>: [3],    </a:t>
                      </a:r>
                      <a:r>
                        <a:rPr lang="en-US" b="0" dirty="0" err="1"/>
                        <a:t>min_samples_leaf</a:t>
                      </a:r>
                      <a:r>
                        <a:rPr lang="en-US" b="0" dirty="0"/>
                        <a:t>: [1, 2, 4],         </a:t>
                      </a:r>
                      <a:r>
                        <a:rPr lang="en-US" b="0" dirty="0" err="1"/>
                        <a:t>max_features</a:t>
                      </a:r>
                      <a:r>
                        <a:rPr lang="en-US" b="0" dirty="0"/>
                        <a:t>: [0.5,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7994163"/>
                  </a:ext>
                </a:extLst>
              </a:tr>
              <a:tr h="429411">
                <a:tc>
                  <a:txBody>
                    <a:bodyPr/>
                    <a:lstStyle/>
                    <a:p>
                      <a:r>
                        <a:rPr lang="en-US" b="1" i="1" dirty="0" err="1"/>
                        <a:t>XGBoost</a:t>
                      </a:r>
                      <a:endParaRPr lang="en-US" b="1"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t> </a:t>
                      </a:r>
                      <a:r>
                        <a:rPr lang="en-US" b="0" dirty="0" err="1"/>
                        <a:t>max_depth</a:t>
                      </a:r>
                      <a:r>
                        <a:rPr lang="en-US" b="0" dirty="0"/>
                        <a:t>:  [4, 5, 6];      </a:t>
                      </a:r>
                      <a:r>
                        <a:rPr lang="en-US" b="0" dirty="0" err="1"/>
                        <a:t>n_estimators</a:t>
                      </a:r>
                      <a:r>
                        <a:rPr lang="en-US" b="0" dirty="0"/>
                        <a:t>:     [60, 80]</a:t>
                      </a:r>
                    </a:p>
                    <a:p>
                      <a:r>
                        <a:rPr lang="en-US" b="0" dirty="0"/>
                        <a:t> </a:t>
                      </a:r>
                      <a:r>
                        <a:rPr lang="en-US" b="0" dirty="0" err="1"/>
                        <a:t>min_child_weight</a:t>
                      </a:r>
                      <a:r>
                        <a:rPr lang="en-US" b="0" dirty="0"/>
                        <a:t> [5, 10, 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944563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BF6B70D3-F2F0-A51B-8488-A9E9B128D6EE}"/>
            </a:ext>
          </a:extLst>
        </p:cNvPr>
        <p:cNvGrpSpPr/>
        <p:nvPr/>
      </p:nvGrpSpPr>
      <p:grpSpPr>
        <a:xfrm>
          <a:off x="0" y="0"/>
          <a:ext cx="0" cy="0"/>
          <a:chOff x="0" y="0"/>
          <a:chExt cx="0" cy="0"/>
        </a:xfrm>
      </p:grpSpPr>
      <p:sp>
        <p:nvSpPr>
          <p:cNvPr id="112" name="Google Shape;112;p20">
            <a:extLst>
              <a:ext uri="{FF2B5EF4-FFF2-40B4-BE49-F238E27FC236}">
                <a16:creationId xmlns:a16="http://schemas.microsoft.com/office/drawing/2014/main" id="{E7636758-D247-430D-5B44-FE9134D69C63}"/>
              </a:ext>
            </a:extLst>
          </p:cNvPr>
          <p:cNvSpPr txBox="1">
            <a:spLocks noGrp="1"/>
          </p:cNvSpPr>
          <p:nvPr>
            <p:ph type="title"/>
          </p:nvPr>
        </p:nvSpPr>
        <p:spPr>
          <a:xfrm>
            <a:off x="311700" y="12137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it" dirty="0"/>
              <a:t>CUP Validation schema: model selection</a:t>
            </a:r>
            <a:endParaRPr dirty="0"/>
          </a:p>
        </p:txBody>
      </p:sp>
      <p:sp>
        <p:nvSpPr>
          <p:cNvPr id="113" name="Google Shape;113;p20">
            <a:extLst>
              <a:ext uri="{FF2B5EF4-FFF2-40B4-BE49-F238E27FC236}">
                <a16:creationId xmlns:a16="http://schemas.microsoft.com/office/drawing/2014/main" id="{79631B30-F744-DC15-5754-B7E20EC19F18}"/>
              </a:ext>
            </a:extLst>
          </p:cNvPr>
          <p:cNvSpPr txBox="1">
            <a:spLocks noGrp="1"/>
          </p:cNvSpPr>
          <p:nvPr>
            <p:ph type="body" idx="1"/>
          </p:nvPr>
        </p:nvSpPr>
        <p:spPr>
          <a:xfrm>
            <a:off x="311700" y="694070"/>
            <a:ext cx="8520600" cy="3874805"/>
          </a:xfrm>
          <a:prstGeom prst="rect">
            <a:avLst/>
          </a:prstGeom>
          <a:noFill/>
          <a:ln>
            <a:noFill/>
          </a:ln>
        </p:spPr>
        <p:txBody>
          <a:bodyPr spcFirstLastPara="1" wrap="square" lIns="91425" tIns="91425" rIns="91425" bIns="91425" anchor="t" anchorCtr="0">
            <a:normAutofit/>
          </a:bodyPr>
          <a:lstStyle/>
          <a:p>
            <a:pPr marL="0" lvl="0" indent="0">
              <a:buNone/>
            </a:pPr>
            <a:r>
              <a:rPr lang="en-US" sz="1400" dirty="0">
                <a:solidFill>
                  <a:schemeClr val="tx1"/>
                </a:solidFill>
              </a:rPr>
              <a:t>Below are some plots to see best range of hyper parameters for each algorithm (more detail at Appendix)</a:t>
            </a:r>
            <a:endParaRPr sz="1400" dirty="0">
              <a:solidFill>
                <a:schemeClr val="tx1"/>
              </a:solidFill>
            </a:endParaRPr>
          </a:p>
        </p:txBody>
      </p:sp>
      <p:sp>
        <p:nvSpPr>
          <p:cNvPr id="114" name="Google Shape;114;p20">
            <a:extLst>
              <a:ext uri="{FF2B5EF4-FFF2-40B4-BE49-F238E27FC236}">
                <a16:creationId xmlns:a16="http://schemas.microsoft.com/office/drawing/2014/main" id="{D6C38711-50A7-3E57-7141-750C778172DB}"/>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11</a:t>
            </a:fld>
            <a:endParaRPr/>
          </a:p>
        </p:txBody>
      </p:sp>
      <p:pic>
        <p:nvPicPr>
          <p:cNvPr id="4" name="Picture 3">
            <a:extLst>
              <a:ext uri="{FF2B5EF4-FFF2-40B4-BE49-F238E27FC236}">
                <a16:creationId xmlns:a16="http://schemas.microsoft.com/office/drawing/2014/main" id="{4ED87AF8-9BDB-8D4E-F4E5-AD363F41AA04}"/>
              </a:ext>
            </a:extLst>
          </p:cNvPr>
          <p:cNvPicPr>
            <a:picLocks noChangeAspect="1"/>
          </p:cNvPicPr>
          <p:nvPr/>
        </p:nvPicPr>
        <p:blipFill>
          <a:blip r:embed="rId3"/>
          <a:stretch>
            <a:fillRect/>
          </a:stretch>
        </p:blipFill>
        <p:spPr>
          <a:xfrm>
            <a:off x="555477" y="993028"/>
            <a:ext cx="2758468" cy="1904802"/>
          </a:xfrm>
          <a:prstGeom prst="rect">
            <a:avLst/>
          </a:prstGeom>
        </p:spPr>
      </p:pic>
      <p:pic>
        <p:nvPicPr>
          <p:cNvPr id="6" name="Picture 5">
            <a:extLst>
              <a:ext uri="{FF2B5EF4-FFF2-40B4-BE49-F238E27FC236}">
                <a16:creationId xmlns:a16="http://schemas.microsoft.com/office/drawing/2014/main" id="{41BB31A6-F2C0-480C-349F-EE53053E71F6}"/>
              </a:ext>
            </a:extLst>
          </p:cNvPr>
          <p:cNvPicPr>
            <a:picLocks noChangeAspect="1"/>
          </p:cNvPicPr>
          <p:nvPr/>
        </p:nvPicPr>
        <p:blipFill>
          <a:blip r:embed="rId4"/>
          <a:stretch>
            <a:fillRect/>
          </a:stretch>
        </p:blipFill>
        <p:spPr>
          <a:xfrm>
            <a:off x="4572000" y="1104376"/>
            <a:ext cx="3147511" cy="1734114"/>
          </a:xfrm>
          <a:prstGeom prst="rect">
            <a:avLst/>
          </a:prstGeom>
        </p:spPr>
      </p:pic>
      <p:pic>
        <p:nvPicPr>
          <p:cNvPr id="8" name="Picture 7">
            <a:extLst>
              <a:ext uri="{FF2B5EF4-FFF2-40B4-BE49-F238E27FC236}">
                <a16:creationId xmlns:a16="http://schemas.microsoft.com/office/drawing/2014/main" id="{3BBB0C85-C47B-9506-6513-1E83322590DD}"/>
              </a:ext>
            </a:extLst>
          </p:cNvPr>
          <p:cNvPicPr>
            <a:picLocks noChangeAspect="1"/>
          </p:cNvPicPr>
          <p:nvPr/>
        </p:nvPicPr>
        <p:blipFill>
          <a:blip r:embed="rId5"/>
          <a:stretch>
            <a:fillRect/>
          </a:stretch>
        </p:blipFill>
        <p:spPr>
          <a:xfrm>
            <a:off x="555477" y="3123417"/>
            <a:ext cx="2767032" cy="1587183"/>
          </a:xfrm>
          <a:prstGeom prst="rect">
            <a:avLst/>
          </a:prstGeom>
        </p:spPr>
      </p:pic>
      <p:pic>
        <p:nvPicPr>
          <p:cNvPr id="10" name="Picture 9">
            <a:extLst>
              <a:ext uri="{FF2B5EF4-FFF2-40B4-BE49-F238E27FC236}">
                <a16:creationId xmlns:a16="http://schemas.microsoft.com/office/drawing/2014/main" id="{54C9F4F3-C311-A2D7-B941-8F5B1A2B2526}"/>
              </a:ext>
            </a:extLst>
          </p:cNvPr>
          <p:cNvPicPr>
            <a:picLocks noChangeAspect="1"/>
          </p:cNvPicPr>
          <p:nvPr/>
        </p:nvPicPr>
        <p:blipFill>
          <a:blip r:embed="rId6"/>
          <a:stretch>
            <a:fillRect/>
          </a:stretch>
        </p:blipFill>
        <p:spPr>
          <a:xfrm>
            <a:off x="4572000" y="3051815"/>
            <a:ext cx="3147511" cy="1730385"/>
          </a:xfrm>
          <a:prstGeom prst="rect">
            <a:avLst/>
          </a:prstGeom>
        </p:spPr>
      </p:pic>
      <p:sp>
        <p:nvSpPr>
          <p:cNvPr id="12" name="TextBox 11">
            <a:extLst>
              <a:ext uri="{FF2B5EF4-FFF2-40B4-BE49-F238E27FC236}">
                <a16:creationId xmlns:a16="http://schemas.microsoft.com/office/drawing/2014/main" id="{9A9C1924-4CE4-8C18-F1A5-01A6072FA986}"/>
              </a:ext>
            </a:extLst>
          </p:cNvPr>
          <p:cNvSpPr txBox="1"/>
          <p:nvPr/>
        </p:nvSpPr>
        <p:spPr>
          <a:xfrm>
            <a:off x="1209192" y="2791113"/>
            <a:ext cx="1451038" cy="307777"/>
          </a:xfrm>
          <a:prstGeom prst="rect">
            <a:avLst/>
          </a:prstGeom>
          <a:noFill/>
        </p:spPr>
        <p:txBody>
          <a:bodyPr wrap="none" rtlCol="0">
            <a:spAutoFit/>
          </a:bodyPr>
          <a:lstStyle/>
          <a:p>
            <a:r>
              <a:rPr lang="en-US" b="1" dirty="0"/>
              <a:t>KNN regressor</a:t>
            </a:r>
          </a:p>
        </p:txBody>
      </p:sp>
      <p:sp>
        <p:nvSpPr>
          <p:cNvPr id="13" name="TextBox 12">
            <a:extLst>
              <a:ext uri="{FF2B5EF4-FFF2-40B4-BE49-F238E27FC236}">
                <a16:creationId xmlns:a16="http://schemas.microsoft.com/office/drawing/2014/main" id="{8DAEC353-1072-7EDE-446A-0FE83F4787B0}"/>
              </a:ext>
            </a:extLst>
          </p:cNvPr>
          <p:cNvSpPr txBox="1"/>
          <p:nvPr/>
        </p:nvSpPr>
        <p:spPr>
          <a:xfrm>
            <a:off x="747527" y="4695915"/>
            <a:ext cx="2374368" cy="307777"/>
          </a:xfrm>
          <a:prstGeom prst="rect">
            <a:avLst/>
          </a:prstGeom>
          <a:noFill/>
        </p:spPr>
        <p:txBody>
          <a:bodyPr wrap="none" rtlCol="0">
            <a:spAutoFit/>
          </a:bodyPr>
          <a:lstStyle/>
          <a:p>
            <a:r>
              <a:rPr lang="en-US" b="1" dirty="0"/>
              <a:t>Random Forest regressor</a:t>
            </a:r>
          </a:p>
        </p:txBody>
      </p:sp>
      <p:sp>
        <p:nvSpPr>
          <p:cNvPr id="14" name="TextBox 13">
            <a:extLst>
              <a:ext uri="{FF2B5EF4-FFF2-40B4-BE49-F238E27FC236}">
                <a16:creationId xmlns:a16="http://schemas.microsoft.com/office/drawing/2014/main" id="{FAEAE6F0-4D6B-7EDE-ED7F-F5081987CA54}"/>
              </a:ext>
            </a:extLst>
          </p:cNvPr>
          <p:cNvSpPr txBox="1"/>
          <p:nvPr/>
        </p:nvSpPr>
        <p:spPr>
          <a:xfrm>
            <a:off x="5868275" y="2801914"/>
            <a:ext cx="554960" cy="307777"/>
          </a:xfrm>
          <a:prstGeom prst="rect">
            <a:avLst/>
          </a:prstGeom>
          <a:noFill/>
        </p:spPr>
        <p:txBody>
          <a:bodyPr wrap="none" rtlCol="0">
            <a:spAutoFit/>
          </a:bodyPr>
          <a:lstStyle/>
          <a:p>
            <a:r>
              <a:rPr lang="en-US" b="1" dirty="0"/>
              <a:t>SVR</a:t>
            </a:r>
          </a:p>
        </p:txBody>
      </p:sp>
      <p:sp>
        <p:nvSpPr>
          <p:cNvPr id="15" name="TextBox 14">
            <a:extLst>
              <a:ext uri="{FF2B5EF4-FFF2-40B4-BE49-F238E27FC236}">
                <a16:creationId xmlns:a16="http://schemas.microsoft.com/office/drawing/2014/main" id="{0A2CB8FA-000B-302B-FF5A-51F06BE012E7}"/>
              </a:ext>
            </a:extLst>
          </p:cNvPr>
          <p:cNvSpPr txBox="1"/>
          <p:nvPr/>
        </p:nvSpPr>
        <p:spPr>
          <a:xfrm>
            <a:off x="5670304" y="4732121"/>
            <a:ext cx="950901" cy="307777"/>
          </a:xfrm>
          <a:prstGeom prst="rect">
            <a:avLst/>
          </a:prstGeom>
          <a:noFill/>
        </p:spPr>
        <p:txBody>
          <a:bodyPr wrap="none" rtlCol="0">
            <a:spAutoFit/>
          </a:bodyPr>
          <a:lstStyle/>
          <a:p>
            <a:r>
              <a:rPr lang="en-US" b="1" dirty="0" err="1"/>
              <a:t>XGBoost</a:t>
            </a:r>
            <a:endParaRPr lang="en-US" b="1" dirty="0"/>
          </a:p>
        </p:txBody>
      </p:sp>
    </p:spTree>
    <p:extLst>
      <p:ext uri="{BB962C8B-B14F-4D97-AF65-F5344CB8AC3E}">
        <p14:creationId xmlns:p14="http://schemas.microsoft.com/office/powerpoint/2010/main" val="1756005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BE2ABD24-8B1A-EC3D-6838-ACB3818B4DF5}"/>
            </a:ext>
          </a:extLst>
        </p:cNvPr>
        <p:cNvGrpSpPr/>
        <p:nvPr/>
      </p:nvGrpSpPr>
      <p:grpSpPr>
        <a:xfrm>
          <a:off x="0" y="0"/>
          <a:ext cx="0" cy="0"/>
          <a:chOff x="0" y="0"/>
          <a:chExt cx="0" cy="0"/>
        </a:xfrm>
      </p:grpSpPr>
      <p:sp>
        <p:nvSpPr>
          <p:cNvPr id="112" name="Google Shape;112;p20">
            <a:extLst>
              <a:ext uri="{FF2B5EF4-FFF2-40B4-BE49-F238E27FC236}">
                <a16:creationId xmlns:a16="http://schemas.microsoft.com/office/drawing/2014/main" id="{86E468F5-12B8-3AFA-8917-0B13EBE1CCEB}"/>
              </a:ext>
            </a:extLst>
          </p:cNvPr>
          <p:cNvSpPr txBox="1">
            <a:spLocks noGrp="1"/>
          </p:cNvSpPr>
          <p:nvPr>
            <p:ph type="title"/>
          </p:nvPr>
        </p:nvSpPr>
        <p:spPr>
          <a:xfrm>
            <a:off x="311700" y="121370"/>
            <a:ext cx="8520600" cy="478358"/>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it" dirty="0"/>
              <a:t>CUP Validation schema: model selection</a:t>
            </a:r>
            <a:endParaRPr dirty="0"/>
          </a:p>
        </p:txBody>
      </p:sp>
      <p:sp>
        <p:nvSpPr>
          <p:cNvPr id="113" name="Google Shape;113;p20">
            <a:extLst>
              <a:ext uri="{FF2B5EF4-FFF2-40B4-BE49-F238E27FC236}">
                <a16:creationId xmlns:a16="http://schemas.microsoft.com/office/drawing/2014/main" id="{2F19B770-B5F5-7E9C-8D6D-5704A678A2F4}"/>
              </a:ext>
            </a:extLst>
          </p:cNvPr>
          <p:cNvSpPr txBox="1">
            <a:spLocks noGrp="1"/>
          </p:cNvSpPr>
          <p:nvPr>
            <p:ph type="body" idx="1"/>
          </p:nvPr>
        </p:nvSpPr>
        <p:spPr>
          <a:xfrm>
            <a:off x="311700" y="599728"/>
            <a:ext cx="8520600" cy="3969147"/>
          </a:xfrm>
          <a:prstGeom prst="rect">
            <a:avLst/>
          </a:prstGeom>
          <a:noFill/>
          <a:ln>
            <a:noFill/>
          </a:ln>
        </p:spPr>
        <p:txBody>
          <a:bodyPr spcFirstLastPara="1" wrap="square" lIns="91425" tIns="91425" rIns="91425" bIns="91425" anchor="t" anchorCtr="0">
            <a:normAutofit/>
          </a:bodyPr>
          <a:lstStyle/>
          <a:p>
            <a:pPr marL="0" lvl="0" indent="0" algn="just">
              <a:buNone/>
            </a:pPr>
            <a:r>
              <a:rPr lang="en-US" sz="1400" dirty="0">
                <a:solidFill>
                  <a:schemeClr val="tx1"/>
                </a:solidFill>
              </a:rPr>
              <a:t>For Neural Networks, we run multiple </a:t>
            </a:r>
            <a:r>
              <a:rPr lang="en-US" sz="1400" dirty="0" err="1">
                <a:solidFill>
                  <a:schemeClr val="tx1"/>
                </a:solidFill>
              </a:rPr>
              <a:t>GridSearch</a:t>
            </a:r>
            <a:r>
              <a:rPr lang="en-US" sz="1400" dirty="0">
                <a:solidFill>
                  <a:schemeClr val="tx1"/>
                </a:solidFill>
              </a:rPr>
              <a:t>, keeping the number of epochs fixed at 100 to 200 (for </a:t>
            </a:r>
            <a:r>
              <a:rPr lang="en-US" sz="1400" dirty="0" err="1">
                <a:solidFill>
                  <a:schemeClr val="tx1"/>
                </a:solidFill>
              </a:rPr>
              <a:t>Pytorch</a:t>
            </a:r>
            <a:r>
              <a:rPr lang="en-US" sz="1400" dirty="0">
                <a:solidFill>
                  <a:schemeClr val="tx1"/>
                </a:solidFill>
              </a:rPr>
              <a:t> and </a:t>
            </a:r>
            <a:r>
              <a:rPr lang="en-US" sz="1400" dirty="0" err="1">
                <a:solidFill>
                  <a:schemeClr val="tx1"/>
                </a:solidFill>
              </a:rPr>
              <a:t>Keras</a:t>
            </a:r>
            <a:r>
              <a:rPr lang="en-US" sz="1400" dirty="0">
                <a:solidFill>
                  <a:schemeClr val="tx1"/>
                </a:solidFill>
              </a:rPr>
              <a:t>) and 500 for Scikit learn in order to compare results in terms of loss. With an initial set of parameters for grid search, we narrow them down after each result from the grid search to reduce running time and produce results. (For example, after multiple runs, noticing that the Adam optimizer performs better, we eliminated SGD and focused on Adam).</a:t>
            </a:r>
            <a:endParaRPr sz="1400" dirty="0">
              <a:solidFill>
                <a:schemeClr val="tx1"/>
              </a:solidFill>
            </a:endParaRPr>
          </a:p>
        </p:txBody>
      </p:sp>
      <p:sp>
        <p:nvSpPr>
          <p:cNvPr id="114" name="Google Shape;114;p20">
            <a:extLst>
              <a:ext uri="{FF2B5EF4-FFF2-40B4-BE49-F238E27FC236}">
                <a16:creationId xmlns:a16="http://schemas.microsoft.com/office/drawing/2014/main" id="{D13F4CEE-941A-CE3C-71FA-B8DE15D6D277}"/>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12</a:t>
            </a:fld>
            <a:endParaRPr/>
          </a:p>
        </p:txBody>
      </p:sp>
      <p:graphicFrame>
        <p:nvGraphicFramePr>
          <p:cNvPr id="2" name="Table 1">
            <a:extLst>
              <a:ext uri="{FF2B5EF4-FFF2-40B4-BE49-F238E27FC236}">
                <a16:creationId xmlns:a16="http://schemas.microsoft.com/office/drawing/2014/main" id="{26E0D399-A638-5355-A5BA-D80728317822}"/>
              </a:ext>
            </a:extLst>
          </p:cNvPr>
          <p:cNvGraphicFramePr>
            <a:graphicFrameLocks noGrp="1"/>
          </p:cNvGraphicFramePr>
          <p:nvPr>
            <p:extLst>
              <p:ext uri="{D42A27DB-BD31-4B8C-83A1-F6EECF244321}">
                <p14:modId xmlns:p14="http://schemas.microsoft.com/office/powerpoint/2010/main" val="2263125944"/>
              </p:ext>
            </p:extLst>
          </p:nvPr>
        </p:nvGraphicFramePr>
        <p:xfrm>
          <a:off x="311700" y="1958340"/>
          <a:ext cx="8320236" cy="3139440"/>
        </p:xfrm>
        <a:graphic>
          <a:graphicData uri="http://schemas.openxmlformats.org/drawingml/2006/table">
            <a:tbl>
              <a:tblPr firstRow="1" bandRow="1">
                <a:tableStyleId>{2D5ABB26-0587-4C30-8999-92F81FD0307C}</a:tableStyleId>
              </a:tblPr>
              <a:tblGrid>
                <a:gridCol w="1698007">
                  <a:extLst>
                    <a:ext uri="{9D8B030D-6E8A-4147-A177-3AD203B41FA5}">
                      <a16:colId xmlns:a16="http://schemas.microsoft.com/office/drawing/2014/main" val="2514604164"/>
                    </a:ext>
                  </a:extLst>
                </a:gridCol>
                <a:gridCol w="6622229">
                  <a:extLst>
                    <a:ext uri="{9D8B030D-6E8A-4147-A177-3AD203B41FA5}">
                      <a16:colId xmlns:a16="http://schemas.microsoft.com/office/drawing/2014/main" val="90098710"/>
                    </a:ext>
                  </a:extLst>
                </a:gridCol>
              </a:tblGrid>
              <a:tr h="297455">
                <a:tc>
                  <a:txBody>
                    <a:bodyPr/>
                    <a:lstStyle/>
                    <a:p>
                      <a:pPr algn="ctr"/>
                      <a:r>
                        <a:rPr lang="en-US" b="1" dirty="0"/>
                        <a:t>Library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Hyper parameters range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3625473"/>
                  </a:ext>
                </a:extLst>
              </a:tr>
              <a:tr h="922112">
                <a:tc>
                  <a:txBody>
                    <a:bodyPr/>
                    <a:lstStyle/>
                    <a:p>
                      <a:r>
                        <a:rPr lang="en-US" dirty="0"/>
                        <a:t>Scikit learn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err="1"/>
                        <a:t>hidden_layer_sizes</a:t>
                      </a:r>
                      <a:r>
                        <a:rPr lang="en-US" b="0" dirty="0"/>
                        <a:t>: [(32,), (64,32), (32, 16), (64, 64), (128, 64)]    </a:t>
                      </a:r>
                    </a:p>
                    <a:p>
                      <a:r>
                        <a:rPr lang="en-US" b="0" dirty="0" err="1"/>
                        <a:t>batch_size</a:t>
                      </a:r>
                      <a:r>
                        <a:rPr lang="en-US" b="0" dirty="0"/>
                        <a:t>: [128, 256],    </a:t>
                      </a:r>
                      <a:r>
                        <a:rPr lang="en-US" b="0" dirty="0" err="1"/>
                        <a:t>learning_rate_init</a:t>
                      </a:r>
                      <a:r>
                        <a:rPr lang="en-US" b="0" dirty="0"/>
                        <a:t>: [1e-3, 2e-3, 3e-3, 5e-3],    </a:t>
                      </a:r>
                    </a:p>
                    <a:p>
                      <a:r>
                        <a:rPr lang="en-US" b="0" dirty="0"/>
                        <a:t>alpha: [0.01],         beta_1: [0.96, 0.95, 0.99, 0.9],       beta_2: [0.999, 0.9999],       epsilon: [1e-8, 1e-7],           activation: ["</a:t>
                      </a:r>
                      <a:r>
                        <a:rPr lang="en-US" b="0" dirty="0" err="1"/>
                        <a:t>relu</a:t>
                      </a:r>
                      <a:r>
                        <a:rPr lang="en-US" b="0" dirty="0"/>
                        <a:t>", "tanh"]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5029140"/>
                  </a:ext>
                </a:extLst>
              </a:tr>
              <a:tr h="922112">
                <a:tc>
                  <a:txBody>
                    <a:bodyPr/>
                    <a:lstStyle/>
                    <a:p>
                      <a:r>
                        <a:rPr lang="en-US" dirty="0"/>
                        <a:t>Py torch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err="1"/>
                        <a:t>hidden_layer_sizes</a:t>
                      </a:r>
                      <a:r>
                        <a:rPr lang="en-US" b="0" dirty="0"/>
                        <a:t>: [(32,), (64,32), (32, 16), (64, 64), (128, 64)]    </a:t>
                      </a:r>
                    </a:p>
                    <a:p>
                      <a:r>
                        <a:rPr lang="en-US" b="0" dirty="0" err="1"/>
                        <a:t>batch_size</a:t>
                      </a:r>
                      <a:r>
                        <a:rPr lang="en-US" b="0" dirty="0"/>
                        <a:t>: [128, 256],    </a:t>
                      </a:r>
                      <a:r>
                        <a:rPr lang="en-US" b="0" dirty="0" err="1"/>
                        <a:t>learning_rate</a:t>
                      </a:r>
                      <a:r>
                        <a:rPr lang="en-US" b="0" dirty="0"/>
                        <a:t>: [1e-3, 2e-3, 3e-3, 5e-3],    </a:t>
                      </a:r>
                    </a:p>
                    <a:p>
                      <a:r>
                        <a:rPr lang="en-US" b="0" dirty="0"/>
                        <a:t>beta_1: [0.96, 0.95, 0.99, 0.9],       beta_2: [0.9995, 0.9999],       epsilon: [1e-8, 1e-7],        activation: ["</a:t>
                      </a:r>
                      <a:r>
                        <a:rPr lang="en-US" b="0" dirty="0" err="1"/>
                        <a:t>relu</a:t>
                      </a:r>
                      <a:r>
                        <a:rPr lang="en-US" b="0" dirty="0"/>
                        <a:t>", "tanh"], </a:t>
                      </a:r>
                      <a:r>
                        <a:rPr lang="en-US" b="0" dirty="0" err="1"/>
                        <a:t>weight_decay</a:t>
                      </a:r>
                      <a:r>
                        <a:rPr lang="en-US" b="0" dirty="0"/>
                        <a:t>: [0.01, 1e-5, 1e-4, 1e-3]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1603110"/>
                  </a:ext>
                </a:extLst>
              </a:tr>
              <a:tr h="922112">
                <a:tc>
                  <a:txBody>
                    <a:bodyPr/>
                    <a:lstStyle/>
                    <a:p>
                      <a:r>
                        <a:rPr lang="en-US" dirty="0" err="1"/>
                        <a:t>Keras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err="1"/>
                        <a:t>hidden_layer_sizes</a:t>
                      </a:r>
                      <a:r>
                        <a:rPr lang="en-US" b="0" dirty="0"/>
                        <a:t>: [(32,), (64,32), (32, 16), (64, 64), (128, 64)]    </a:t>
                      </a:r>
                    </a:p>
                    <a:p>
                      <a:r>
                        <a:rPr lang="en-US" b="0" dirty="0" err="1"/>
                        <a:t>batch_size</a:t>
                      </a:r>
                      <a:r>
                        <a:rPr lang="en-US" b="0" dirty="0"/>
                        <a:t>: [32, 64],    </a:t>
                      </a:r>
                      <a:r>
                        <a:rPr lang="en-US" b="0" dirty="0" err="1"/>
                        <a:t>learning_rate</a:t>
                      </a:r>
                      <a:r>
                        <a:rPr lang="en-US" b="0" dirty="0"/>
                        <a:t>: [0.01, 0.1],   activation: ["</a:t>
                      </a:r>
                      <a:r>
                        <a:rPr lang="en-US" b="0" dirty="0" err="1"/>
                        <a:t>relu</a:t>
                      </a:r>
                      <a:r>
                        <a:rPr lang="en-US" b="0" dirty="0"/>
                        <a:t>", "tanh"], </a:t>
                      </a:r>
                      <a:r>
                        <a:rPr lang="en-US" b="0" dirty="0" err="1"/>
                        <a:t>weight_decay</a:t>
                      </a:r>
                      <a:r>
                        <a:rPr lang="en-US" b="0" dirty="0"/>
                        <a:t>: [0.01, 0.1]</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7994163"/>
                  </a:ext>
                </a:extLst>
              </a:tr>
            </a:tbl>
          </a:graphicData>
        </a:graphic>
      </p:graphicFrame>
    </p:spTree>
    <p:extLst>
      <p:ext uri="{BB962C8B-B14F-4D97-AF65-F5344CB8AC3E}">
        <p14:creationId xmlns:p14="http://schemas.microsoft.com/office/powerpoint/2010/main" val="3762379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it" dirty="0"/>
              <a:t>CUP Results (KNN, SVR, XGBoost, Random Forest)</a:t>
            </a:r>
            <a:endParaRPr dirty="0"/>
          </a:p>
        </p:txBody>
      </p:sp>
      <p:sp>
        <p:nvSpPr>
          <p:cNvPr id="120" name="Google Shape;120;p21"/>
          <p:cNvSpPr txBox="1">
            <a:spLocks noGrp="1"/>
          </p:cNvSpPr>
          <p:nvPr>
            <p:ph type="body" idx="1"/>
          </p:nvPr>
        </p:nvSpPr>
        <p:spPr>
          <a:xfrm>
            <a:off x="311700" y="881406"/>
            <a:ext cx="8520600" cy="3551150"/>
          </a:xfrm>
          <a:prstGeom prst="rect">
            <a:avLst/>
          </a:prstGeom>
          <a:noFill/>
          <a:ln>
            <a:noFill/>
          </a:ln>
        </p:spPr>
        <p:txBody>
          <a:bodyPr spcFirstLastPara="1" wrap="square" lIns="91425" tIns="91425" rIns="91425" bIns="91425" anchor="t" anchorCtr="0">
            <a:normAutofit/>
          </a:bodyPr>
          <a:lstStyle/>
          <a:p>
            <a:pPr marL="114300" indent="0" algn="just">
              <a:buNone/>
            </a:pPr>
            <a:r>
              <a:rPr lang="en-US" sz="1400" dirty="0">
                <a:solidFill>
                  <a:schemeClr val="tx1"/>
                </a:solidFill>
              </a:rPr>
              <a:t>We identified the best-performing hyperparameter configuration for each model by </a:t>
            </a:r>
            <a:r>
              <a:rPr lang="en-US" sz="1400" dirty="0" err="1">
                <a:solidFill>
                  <a:schemeClr val="tx1"/>
                </a:solidFill>
              </a:rPr>
              <a:t>gridsearch</a:t>
            </a:r>
            <a:r>
              <a:rPr lang="en-US" sz="1400" dirty="0">
                <a:solidFill>
                  <a:schemeClr val="tx1"/>
                </a:solidFill>
              </a:rPr>
              <a:t>. To mitigate overfitting, hyperparameter selection was constrained to previously validated “good” regions of the search space and finalized based on cross-validated performance rather than training metrics alone.</a:t>
            </a:r>
          </a:p>
          <a:p>
            <a:pPr marL="114300" indent="0" algn="just">
              <a:buNone/>
            </a:pPr>
            <a:r>
              <a:rPr lang="en-US" sz="1400" dirty="0">
                <a:solidFill>
                  <a:schemeClr val="tx1"/>
                </a:solidFill>
              </a:rPr>
              <a:t>Both KNN and SVR exhibited relatively short runtimes, primarily because KNN was optimized with a small number of neighbors, and SVR was fixed RBF kernel. For the ensemble-based models, namely </a:t>
            </a:r>
            <a:r>
              <a:rPr lang="en-US" sz="1400" dirty="0" err="1">
                <a:solidFill>
                  <a:schemeClr val="tx1"/>
                </a:solidFill>
              </a:rPr>
              <a:t>XGBoost</a:t>
            </a:r>
            <a:r>
              <a:rPr lang="en-US" sz="1400" dirty="0">
                <a:solidFill>
                  <a:schemeClr val="tx1"/>
                </a:solidFill>
              </a:rPr>
              <a:t> and Random Forest (RF), runtime scaled with the number of estimators (i.e., the number of trees/boosting rounds).</a:t>
            </a:r>
          </a:p>
        </p:txBody>
      </p:sp>
      <p:sp>
        <p:nvSpPr>
          <p:cNvPr id="121" name="Google Shape;121;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13</a:t>
            </a:fld>
            <a:endParaRPr/>
          </a:p>
        </p:txBody>
      </p:sp>
      <p:graphicFrame>
        <p:nvGraphicFramePr>
          <p:cNvPr id="2" name="Table 1">
            <a:extLst>
              <a:ext uri="{FF2B5EF4-FFF2-40B4-BE49-F238E27FC236}">
                <a16:creationId xmlns:a16="http://schemas.microsoft.com/office/drawing/2014/main" id="{C4DC4858-4227-CB3C-653B-51F60F5B52BD}"/>
              </a:ext>
            </a:extLst>
          </p:cNvPr>
          <p:cNvGraphicFramePr>
            <a:graphicFrameLocks noGrp="1"/>
          </p:cNvGraphicFramePr>
          <p:nvPr>
            <p:extLst>
              <p:ext uri="{D42A27DB-BD31-4B8C-83A1-F6EECF244321}">
                <p14:modId xmlns:p14="http://schemas.microsoft.com/office/powerpoint/2010/main" val="807886612"/>
              </p:ext>
            </p:extLst>
          </p:nvPr>
        </p:nvGraphicFramePr>
        <p:xfrm>
          <a:off x="108504" y="2762995"/>
          <a:ext cx="8926991" cy="1935480"/>
        </p:xfrm>
        <a:graphic>
          <a:graphicData uri="http://schemas.openxmlformats.org/drawingml/2006/table">
            <a:tbl>
              <a:tblPr firstRow="1" bandRow="1">
                <a:tableStyleId>{2D5ABB26-0587-4C30-8999-92F81FD0307C}</a:tableStyleId>
              </a:tblPr>
              <a:tblGrid>
                <a:gridCol w="1024128">
                  <a:extLst>
                    <a:ext uri="{9D8B030D-6E8A-4147-A177-3AD203B41FA5}">
                      <a16:colId xmlns:a16="http://schemas.microsoft.com/office/drawing/2014/main" val="3272571059"/>
                    </a:ext>
                  </a:extLst>
                </a:gridCol>
                <a:gridCol w="4730496">
                  <a:extLst>
                    <a:ext uri="{9D8B030D-6E8A-4147-A177-3AD203B41FA5}">
                      <a16:colId xmlns:a16="http://schemas.microsoft.com/office/drawing/2014/main" val="1836777071"/>
                    </a:ext>
                  </a:extLst>
                </a:gridCol>
                <a:gridCol w="997857">
                  <a:extLst>
                    <a:ext uri="{9D8B030D-6E8A-4147-A177-3AD203B41FA5}">
                      <a16:colId xmlns:a16="http://schemas.microsoft.com/office/drawing/2014/main" val="105396793"/>
                    </a:ext>
                  </a:extLst>
                </a:gridCol>
                <a:gridCol w="1026015">
                  <a:extLst>
                    <a:ext uri="{9D8B030D-6E8A-4147-A177-3AD203B41FA5}">
                      <a16:colId xmlns:a16="http://schemas.microsoft.com/office/drawing/2014/main" val="2321878098"/>
                    </a:ext>
                  </a:extLst>
                </a:gridCol>
                <a:gridCol w="1148495">
                  <a:extLst>
                    <a:ext uri="{9D8B030D-6E8A-4147-A177-3AD203B41FA5}">
                      <a16:colId xmlns:a16="http://schemas.microsoft.com/office/drawing/2014/main" val="761276446"/>
                    </a:ext>
                  </a:extLst>
                </a:gridCol>
              </a:tblGrid>
              <a:tr h="370840">
                <a:tc>
                  <a:txBody>
                    <a:bodyPr/>
                    <a:lstStyle/>
                    <a:p>
                      <a:pPr algn="ctr"/>
                      <a:r>
                        <a:rPr lang="en-US" b="1" dirty="0"/>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Best hyper parameters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MEE_TR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MEE_VAL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MEE_TEST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9330136"/>
                  </a:ext>
                </a:extLst>
              </a:tr>
              <a:tr h="370840">
                <a:tc>
                  <a:txBody>
                    <a:bodyPr/>
                    <a:lstStyle/>
                    <a:p>
                      <a:pPr algn="ctr"/>
                      <a:r>
                        <a:rPr lang="en-US" b="1" i="1" dirty="0"/>
                        <a:t>KNN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N_neighbors</a:t>
                      </a:r>
                      <a:r>
                        <a:rPr lang="en-US" dirty="0"/>
                        <a:t>: 5; p: 2; weights: distance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15.44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dirty="0">
                          <a:solidFill>
                            <a:schemeClr val="dk1"/>
                          </a:solidFill>
                          <a:effectLst/>
                          <a:sym typeface="Arial"/>
                        </a:rPr>
                        <a:t>14.38</a:t>
                      </a:r>
                      <a:endParaRPr lang="en-US" sz="1400" b="0" i="0" u="none" strike="noStrike" cap="none" dirty="0">
                        <a:solidFill>
                          <a:schemeClr val="dk1"/>
                        </a:solidFill>
                        <a:effectLst/>
                        <a:latin typeface="+mn-lt"/>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2357743"/>
                  </a:ext>
                </a:extLst>
              </a:tr>
              <a:tr h="0">
                <a:tc>
                  <a:txBody>
                    <a:bodyPr/>
                    <a:lstStyle/>
                    <a:p>
                      <a:pPr algn="ctr"/>
                      <a:r>
                        <a:rPr lang="en-US" b="1" i="1" dirty="0"/>
                        <a:t>SVR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dirty="0">
                          <a:solidFill>
                            <a:schemeClr val="dk1"/>
                          </a:solidFill>
                          <a:effectLst/>
                          <a:sym typeface="Arial"/>
                        </a:rPr>
                        <a:t>C: 500, epsilon: 2.0, gamma: 0.5</a:t>
                      </a:r>
                      <a:endParaRPr lang="en-US" sz="1400" b="0" i="0" u="none" strike="noStrike" cap="none" dirty="0">
                        <a:solidFill>
                          <a:schemeClr val="dk1"/>
                        </a:solidFill>
                        <a:effectLst/>
                        <a:latin typeface="+mn-lt"/>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dirty="0">
                          <a:solidFill>
                            <a:schemeClr val="dk1"/>
                          </a:solidFill>
                          <a:effectLst/>
                          <a:sym typeface="Arial"/>
                        </a:rPr>
                        <a:t>13.15</a:t>
                      </a:r>
                      <a:endParaRPr lang="en-US" sz="1400" b="0" i="0" u="none" strike="noStrike" cap="none" dirty="0">
                        <a:solidFill>
                          <a:schemeClr val="dk1"/>
                        </a:solidFill>
                        <a:effectLst/>
                        <a:latin typeface="+mn-lt"/>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dirty="0">
                          <a:solidFill>
                            <a:schemeClr val="dk1"/>
                          </a:solidFill>
                          <a:effectLst/>
                          <a:sym typeface="Arial"/>
                        </a:rPr>
                        <a:t>18.22</a:t>
                      </a:r>
                      <a:endParaRPr lang="en-US" sz="1400" b="0" i="0" u="none" strike="noStrike" cap="none" dirty="0">
                        <a:solidFill>
                          <a:schemeClr val="dk1"/>
                        </a:solidFill>
                        <a:effectLst/>
                        <a:latin typeface="+mn-lt"/>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18.13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1413320"/>
                  </a:ext>
                </a:extLst>
              </a:tr>
              <a:tr h="370840">
                <a:tc>
                  <a:txBody>
                    <a:bodyPr/>
                    <a:lstStyle/>
                    <a:p>
                      <a:pPr algn="ctr"/>
                      <a:r>
                        <a:rPr lang="en-US" b="1" i="1" dirty="0" err="1"/>
                        <a:t>XGboost</a:t>
                      </a:r>
                      <a:endParaRPr lang="en-US" b="1"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dirty="0" err="1">
                          <a:solidFill>
                            <a:schemeClr val="dk1"/>
                          </a:solidFill>
                          <a:effectLst/>
                          <a:sym typeface="Arial"/>
                        </a:rPr>
                        <a:t>max_depth</a:t>
                      </a:r>
                      <a:r>
                        <a:rPr lang="en-US" sz="1400" b="0" u="none" strike="noStrike" cap="none" dirty="0">
                          <a:solidFill>
                            <a:schemeClr val="dk1"/>
                          </a:solidFill>
                          <a:effectLst/>
                          <a:sym typeface="Arial"/>
                        </a:rPr>
                        <a:t>: 2, </a:t>
                      </a:r>
                      <a:r>
                        <a:rPr lang="en-US" sz="1400" b="0" u="none" strike="noStrike" cap="none" dirty="0" err="1">
                          <a:solidFill>
                            <a:schemeClr val="dk1"/>
                          </a:solidFill>
                          <a:effectLst/>
                          <a:sym typeface="Arial"/>
                        </a:rPr>
                        <a:t>min_child_weight</a:t>
                      </a:r>
                      <a:r>
                        <a:rPr lang="en-US" sz="1400" b="0" u="none" strike="noStrike" cap="none" dirty="0">
                          <a:solidFill>
                            <a:schemeClr val="dk1"/>
                          </a:solidFill>
                          <a:effectLst/>
                          <a:sym typeface="Arial"/>
                        </a:rPr>
                        <a:t>: 20, </a:t>
                      </a:r>
                      <a:r>
                        <a:rPr lang="en-US" sz="1400" b="0" u="none" strike="noStrike" cap="none" dirty="0" err="1">
                          <a:solidFill>
                            <a:schemeClr val="dk1"/>
                          </a:solidFill>
                          <a:effectLst/>
                          <a:sym typeface="Arial"/>
                        </a:rPr>
                        <a:t>n_estimators</a:t>
                      </a:r>
                      <a:r>
                        <a:rPr lang="en-US" sz="1400" b="0" u="none" strike="noStrike" cap="none" dirty="0">
                          <a:solidFill>
                            <a:schemeClr val="dk1"/>
                          </a:solidFill>
                          <a:effectLst/>
                          <a:sym typeface="Arial"/>
                        </a:rPr>
                        <a:t>: 30</a:t>
                      </a:r>
                      <a:endParaRPr lang="en-US" sz="1400" b="0" i="0" u="none" strike="noStrike" cap="none" dirty="0">
                        <a:solidFill>
                          <a:schemeClr val="dk1"/>
                        </a:solidFill>
                        <a:effectLst/>
                        <a:latin typeface="+mn-lt"/>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17.95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22.81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22.04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1997142"/>
                  </a:ext>
                </a:extLst>
              </a:tr>
              <a:tr h="370840">
                <a:tc>
                  <a:txBody>
                    <a:bodyPr/>
                    <a:lstStyle/>
                    <a:p>
                      <a:pPr algn="ctr"/>
                      <a:r>
                        <a:rPr lang="en-US" b="1" i="1" dirty="0"/>
                        <a:t>RF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dirty="0" err="1">
                          <a:solidFill>
                            <a:schemeClr val="dk1"/>
                          </a:solidFill>
                          <a:effectLst/>
                          <a:sym typeface="Arial"/>
                        </a:rPr>
                        <a:t>max_depth</a:t>
                      </a:r>
                      <a:r>
                        <a:rPr lang="en-US" sz="1400" b="0" u="none" strike="noStrike" cap="none" dirty="0">
                          <a:solidFill>
                            <a:schemeClr val="dk1"/>
                          </a:solidFill>
                          <a:effectLst/>
                          <a:sym typeface="Arial"/>
                        </a:rPr>
                        <a:t>: 5, </a:t>
                      </a:r>
                      <a:r>
                        <a:rPr lang="en-US" sz="1400" b="0" u="none" strike="noStrike" cap="none" dirty="0" err="1">
                          <a:solidFill>
                            <a:schemeClr val="dk1"/>
                          </a:solidFill>
                          <a:effectLst/>
                          <a:sym typeface="Arial"/>
                        </a:rPr>
                        <a:t>max_features</a:t>
                      </a:r>
                      <a:r>
                        <a:rPr lang="en-US" sz="1400" b="0" u="none" strike="noStrike" cap="none" dirty="0">
                          <a:solidFill>
                            <a:schemeClr val="dk1"/>
                          </a:solidFill>
                          <a:effectLst/>
                          <a:sym typeface="Arial"/>
                        </a:rPr>
                        <a:t>: 1.0, </a:t>
                      </a:r>
                      <a:r>
                        <a:rPr lang="en-US" sz="1400" b="0" u="none" strike="noStrike" cap="none" dirty="0" err="1">
                          <a:solidFill>
                            <a:schemeClr val="dk1"/>
                          </a:solidFill>
                          <a:effectLst/>
                          <a:sym typeface="Arial"/>
                        </a:rPr>
                        <a:t>min_samples_leaf</a:t>
                      </a:r>
                      <a:r>
                        <a:rPr lang="en-US" sz="1400" b="0" u="none" strike="noStrike" cap="none" dirty="0">
                          <a:solidFill>
                            <a:schemeClr val="dk1"/>
                          </a:solidFill>
                          <a:effectLst/>
                          <a:sym typeface="Arial"/>
                        </a:rPr>
                        <a:t>: 1, </a:t>
                      </a:r>
                      <a:r>
                        <a:rPr lang="en-US" sz="1400" b="0" u="none" strike="noStrike" cap="none" dirty="0" err="1">
                          <a:solidFill>
                            <a:schemeClr val="dk1"/>
                          </a:solidFill>
                          <a:effectLst/>
                          <a:sym typeface="Arial"/>
                        </a:rPr>
                        <a:t>n_estimators</a:t>
                      </a:r>
                      <a:r>
                        <a:rPr lang="en-US" sz="1400" b="0" u="none" strike="noStrike" cap="none" dirty="0">
                          <a:solidFill>
                            <a:schemeClr val="dk1"/>
                          </a:solidFill>
                          <a:effectLst/>
                          <a:sym typeface="Arial"/>
                        </a:rPr>
                        <a:t>: 200</a:t>
                      </a:r>
                      <a:endParaRPr lang="en-US" sz="1400" b="0" i="0" u="none" strike="noStrike" cap="none" dirty="0">
                        <a:solidFill>
                          <a:schemeClr val="dk1"/>
                        </a:solidFill>
                        <a:effectLst/>
                        <a:latin typeface="+mn-lt"/>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17.97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22.88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22.53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92987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B5D59BFD-2067-8E08-305B-CDB4CFA7B255}"/>
            </a:ext>
          </a:extLst>
        </p:cNvPr>
        <p:cNvGrpSpPr/>
        <p:nvPr/>
      </p:nvGrpSpPr>
      <p:grpSpPr>
        <a:xfrm>
          <a:off x="0" y="0"/>
          <a:ext cx="0" cy="0"/>
          <a:chOff x="0" y="0"/>
          <a:chExt cx="0" cy="0"/>
        </a:xfrm>
      </p:grpSpPr>
      <p:sp>
        <p:nvSpPr>
          <p:cNvPr id="119" name="Google Shape;119;p21">
            <a:extLst>
              <a:ext uri="{FF2B5EF4-FFF2-40B4-BE49-F238E27FC236}">
                <a16:creationId xmlns:a16="http://schemas.microsoft.com/office/drawing/2014/main" id="{16479DD0-0145-3CD0-2A1E-F65446B0BB5D}"/>
              </a:ext>
            </a:extLst>
          </p:cNvPr>
          <p:cNvSpPr txBox="1">
            <a:spLocks noGrp="1"/>
          </p:cNvSpPr>
          <p:nvPr>
            <p:ph type="title"/>
          </p:nvPr>
        </p:nvSpPr>
        <p:spPr>
          <a:xfrm>
            <a:off x="397044" y="138244"/>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it" dirty="0"/>
              <a:t>CUP Results (Neural Netwworks)</a:t>
            </a:r>
            <a:endParaRPr dirty="0"/>
          </a:p>
        </p:txBody>
      </p:sp>
      <p:sp>
        <p:nvSpPr>
          <p:cNvPr id="120" name="Google Shape;120;p21">
            <a:extLst>
              <a:ext uri="{FF2B5EF4-FFF2-40B4-BE49-F238E27FC236}">
                <a16:creationId xmlns:a16="http://schemas.microsoft.com/office/drawing/2014/main" id="{E0DF35CE-381D-D595-CFD0-0BA774803206}"/>
              </a:ext>
            </a:extLst>
          </p:cNvPr>
          <p:cNvSpPr txBox="1">
            <a:spLocks noGrp="1"/>
          </p:cNvSpPr>
          <p:nvPr>
            <p:ph type="body" idx="1"/>
          </p:nvPr>
        </p:nvSpPr>
        <p:spPr>
          <a:xfrm>
            <a:off x="311700" y="528064"/>
            <a:ext cx="8520600" cy="3721612"/>
          </a:xfrm>
          <a:prstGeom prst="rect">
            <a:avLst/>
          </a:prstGeom>
          <a:noFill/>
          <a:ln>
            <a:noFill/>
          </a:ln>
        </p:spPr>
        <p:txBody>
          <a:bodyPr spcFirstLastPara="1" wrap="square" lIns="91425" tIns="91425" rIns="91425" bIns="91425" anchor="t" anchorCtr="0">
            <a:normAutofit/>
          </a:bodyPr>
          <a:lstStyle/>
          <a:p>
            <a:pPr marL="114300" indent="0" algn="just">
              <a:buNone/>
            </a:pPr>
            <a:r>
              <a:rPr lang="en-US" sz="1400" dirty="0">
                <a:solidFill>
                  <a:schemeClr val="tx1"/>
                </a:solidFill>
              </a:rPr>
              <a:t>We evaluated SGD and Adam while training epochs are 100 for </a:t>
            </a:r>
            <a:r>
              <a:rPr lang="en-US" sz="1400" dirty="0" err="1">
                <a:solidFill>
                  <a:schemeClr val="tx1"/>
                </a:solidFill>
              </a:rPr>
              <a:t>pytorchand</a:t>
            </a:r>
            <a:r>
              <a:rPr lang="en-US" sz="1400" dirty="0">
                <a:solidFill>
                  <a:schemeClr val="tx1"/>
                </a:solidFill>
              </a:rPr>
              <a:t> 500 for </a:t>
            </a:r>
            <a:r>
              <a:rPr lang="en-US" sz="1400" dirty="0" err="1">
                <a:solidFill>
                  <a:schemeClr val="tx1"/>
                </a:solidFill>
              </a:rPr>
              <a:t>sklearn</a:t>
            </a:r>
            <a:r>
              <a:rPr lang="en-US" sz="1400" dirty="0">
                <a:solidFill>
                  <a:schemeClr val="tx1"/>
                </a:solidFill>
              </a:rPr>
              <a:t> and </a:t>
            </a:r>
            <a:r>
              <a:rPr lang="en-US" sz="1400" dirty="0" err="1">
                <a:solidFill>
                  <a:schemeClr val="tx1"/>
                </a:solidFill>
              </a:rPr>
              <a:t>keras</a:t>
            </a:r>
            <a:r>
              <a:rPr lang="en-US" sz="1400" dirty="0">
                <a:solidFill>
                  <a:schemeClr val="tx1"/>
                </a:solidFill>
              </a:rPr>
              <a:t>. In parallel, we compared different batch sizes and found that batch size as 128 and 32 yielded the best so subsequent experiments fixed the batch size at 128 and 32 to speed up experimentation.</a:t>
            </a:r>
          </a:p>
          <a:p>
            <a:pPr marL="114300" indent="0" algn="just">
              <a:buNone/>
            </a:pPr>
            <a:r>
              <a:rPr lang="en-US" sz="1400" dirty="0">
                <a:solidFill>
                  <a:schemeClr val="tx1"/>
                </a:solidFill>
              </a:rPr>
              <a:t>After fixing the batch size, Adam consistently outperformed SGD, so the detailed evaluation phase focused on Adam. During architecture testing, the best-performing multilayer perceptron (MLP) configurations were: [32], [64, 32], [64, 64], and [128, 64]. We then narrowed the search space and concentrated the grid around these candidate architectures for fine-tuning.</a:t>
            </a:r>
          </a:p>
          <a:p>
            <a:pPr marL="114300" indent="0" algn="just">
              <a:buNone/>
            </a:pPr>
            <a:r>
              <a:rPr lang="en-US" sz="1400" dirty="0">
                <a:solidFill>
                  <a:schemeClr val="tx1"/>
                </a:solidFill>
              </a:rPr>
              <a:t>For learning-curve, we fixed epochs as 500;  and applied L2 regularization.</a:t>
            </a:r>
          </a:p>
        </p:txBody>
      </p:sp>
      <p:sp>
        <p:nvSpPr>
          <p:cNvPr id="121" name="Google Shape;121;p21">
            <a:extLst>
              <a:ext uri="{FF2B5EF4-FFF2-40B4-BE49-F238E27FC236}">
                <a16:creationId xmlns:a16="http://schemas.microsoft.com/office/drawing/2014/main" id="{310DA27C-152D-4086-63B0-F3FF98DBC449}"/>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14</a:t>
            </a:fld>
            <a:endParaRPr/>
          </a:p>
        </p:txBody>
      </p:sp>
      <p:graphicFrame>
        <p:nvGraphicFramePr>
          <p:cNvPr id="2" name="Table 1">
            <a:extLst>
              <a:ext uri="{FF2B5EF4-FFF2-40B4-BE49-F238E27FC236}">
                <a16:creationId xmlns:a16="http://schemas.microsoft.com/office/drawing/2014/main" id="{054E7978-B254-46FE-C1E3-789E095A9530}"/>
              </a:ext>
            </a:extLst>
          </p:cNvPr>
          <p:cNvGraphicFramePr>
            <a:graphicFrameLocks noGrp="1"/>
          </p:cNvGraphicFramePr>
          <p:nvPr>
            <p:extLst>
              <p:ext uri="{D42A27DB-BD31-4B8C-83A1-F6EECF244321}">
                <p14:modId xmlns:p14="http://schemas.microsoft.com/office/powerpoint/2010/main" val="1420837626"/>
              </p:ext>
            </p:extLst>
          </p:nvPr>
        </p:nvGraphicFramePr>
        <p:xfrm>
          <a:off x="94167" y="2653218"/>
          <a:ext cx="8926991" cy="2499360"/>
        </p:xfrm>
        <a:graphic>
          <a:graphicData uri="http://schemas.openxmlformats.org/drawingml/2006/table">
            <a:tbl>
              <a:tblPr firstRow="1" bandRow="1">
                <a:tableStyleId>{2D5ABB26-0587-4C30-8999-92F81FD0307C}</a:tableStyleId>
              </a:tblPr>
              <a:tblGrid>
                <a:gridCol w="1024128">
                  <a:extLst>
                    <a:ext uri="{9D8B030D-6E8A-4147-A177-3AD203B41FA5}">
                      <a16:colId xmlns:a16="http://schemas.microsoft.com/office/drawing/2014/main" val="3272571059"/>
                    </a:ext>
                  </a:extLst>
                </a:gridCol>
                <a:gridCol w="4730496">
                  <a:extLst>
                    <a:ext uri="{9D8B030D-6E8A-4147-A177-3AD203B41FA5}">
                      <a16:colId xmlns:a16="http://schemas.microsoft.com/office/drawing/2014/main" val="1836777071"/>
                    </a:ext>
                  </a:extLst>
                </a:gridCol>
                <a:gridCol w="997857">
                  <a:extLst>
                    <a:ext uri="{9D8B030D-6E8A-4147-A177-3AD203B41FA5}">
                      <a16:colId xmlns:a16="http://schemas.microsoft.com/office/drawing/2014/main" val="105396793"/>
                    </a:ext>
                  </a:extLst>
                </a:gridCol>
                <a:gridCol w="1026015">
                  <a:extLst>
                    <a:ext uri="{9D8B030D-6E8A-4147-A177-3AD203B41FA5}">
                      <a16:colId xmlns:a16="http://schemas.microsoft.com/office/drawing/2014/main" val="2321878098"/>
                    </a:ext>
                  </a:extLst>
                </a:gridCol>
                <a:gridCol w="1148495">
                  <a:extLst>
                    <a:ext uri="{9D8B030D-6E8A-4147-A177-3AD203B41FA5}">
                      <a16:colId xmlns:a16="http://schemas.microsoft.com/office/drawing/2014/main" val="761276446"/>
                    </a:ext>
                  </a:extLst>
                </a:gridCol>
              </a:tblGrid>
              <a:tr h="285463">
                <a:tc>
                  <a:txBody>
                    <a:bodyPr/>
                    <a:lstStyle/>
                    <a:p>
                      <a:pPr algn="ctr"/>
                      <a:r>
                        <a:rPr lang="en-US" b="1" dirty="0"/>
                        <a:t>Library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Best Hyperparameters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MEE_TR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MEE_VAL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MEE_TEST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9330136"/>
                  </a:ext>
                </a:extLst>
              </a:tr>
              <a:tr h="685112">
                <a:tc>
                  <a:txBody>
                    <a:bodyPr/>
                    <a:lstStyle/>
                    <a:p>
                      <a:r>
                        <a:rPr lang="en-US" dirty="0"/>
                        <a:t>Scikit learn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400" b="0" i="0" u="none" strike="noStrike" cap="none" dirty="0" err="1">
                          <a:solidFill>
                            <a:schemeClr val="tx1"/>
                          </a:solidFill>
                          <a:effectLst/>
                          <a:latin typeface="+mn-lt"/>
                          <a:ea typeface="+mn-ea"/>
                          <a:cs typeface="+mn-cs"/>
                          <a:sym typeface="Arial"/>
                        </a:rPr>
                        <a:t>hidden_layer_sizes</a:t>
                      </a:r>
                      <a:r>
                        <a:rPr lang="en-US" sz="1400" b="0" i="0" u="none" strike="noStrike" cap="none" dirty="0">
                          <a:solidFill>
                            <a:schemeClr val="tx1"/>
                          </a:solidFill>
                          <a:effectLst/>
                          <a:latin typeface="+mn-lt"/>
                          <a:ea typeface="+mn-ea"/>
                          <a:cs typeface="+mn-cs"/>
                          <a:sym typeface="Arial"/>
                        </a:rPr>
                        <a:t>: (128, 64), activation: '</a:t>
                      </a:r>
                      <a:r>
                        <a:rPr lang="en-US" sz="1400" b="0" i="0" u="none" strike="noStrike" cap="none" dirty="0" err="1">
                          <a:solidFill>
                            <a:schemeClr val="tx1"/>
                          </a:solidFill>
                          <a:effectLst/>
                          <a:latin typeface="+mn-lt"/>
                          <a:ea typeface="+mn-ea"/>
                          <a:cs typeface="+mn-cs"/>
                          <a:sym typeface="Arial"/>
                        </a:rPr>
                        <a:t>relu</a:t>
                      </a:r>
                      <a:r>
                        <a:rPr lang="en-US" sz="1400" b="0" i="0" u="none" strike="noStrike" cap="none" dirty="0">
                          <a:solidFill>
                            <a:schemeClr val="tx1"/>
                          </a:solidFill>
                          <a:effectLst/>
                          <a:latin typeface="+mn-lt"/>
                          <a:ea typeface="+mn-ea"/>
                          <a:cs typeface="+mn-cs"/>
                          <a:sym typeface="Arial"/>
                        </a:rPr>
                        <a:t>', </a:t>
                      </a:r>
                      <a:r>
                        <a:rPr lang="en-US" sz="1400" b="0" i="0" u="none" strike="noStrike" cap="none" dirty="0" err="1">
                          <a:solidFill>
                            <a:schemeClr val="tx1"/>
                          </a:solidFill>
                          <a:effectLst/>
                          <a:latin typeface="+mn-lt"/>
                          <a:ea typeface="+mn-ea"/>
                          <a:cs typeface="+mn-cs"/>
                          <a:sym typeface="Arial"/>
                        </a:rPr>
                        <a:t>batch_size</a:t>
                      </a:r>
                      <a:r>
                        <a:rPr lang="en-US" sz="1400" b="0" i="0" u="none" strike="noStrike" cap="none" dirty="0">
                          <a:solidFill>
                            <a:schemeClr val="tx1"/>
                          </a:solidFill>
                          <a:effectLst/>
                          <a:latin typeface="+mn-lt"/>
                          <a:ea typeface="+mn-ea"/>
                          <a:cs typeface="+mn-cs"/>
                          <a:sym typeface="Arial"/>
                        </a:rPr>
                        <a:t>: 128, optimizer: '</a:t>
                      </a:r>
                      <a:r>
                        <a:rPr lang="en-US" sz="1400" b="0" i="0" u="none" strike="noStrike" cap="none" dirty="0" err="1">
                          <a:solidFill>
                            <a:schemeClr val="tx1"/>
                          </a:solidFill>
                          <a:effectLst/>
                          <a:latin typeface="+mn-lt"/>
                          <a:ea typeface="+mn-ea"/>
                          <a:cs typeface="+mn-cs"/>
                          <a:sym typeface="Arial"/>
                        </a:rPr>
                        <a:t>adam</a:t>
                      </a:r>
                      <a:r>
                        <a:rPr lang="en-US" sz="1400" b="0" i="0" u="none" strike="noStrike" cap="none" dirty="0">
                          <a:solidFill>
                            <a:schemeClr val="tx1"/>
                          </a:solidFill>
                          <a:effectLst/>
                          <a:latin typeface="+mn-lt"/>
                          <a:ea typeface="+mn-ea"/>
                          <a:cs typeface="+mn-cs"/>
                          <a:sym typeface="Arial"/>
                        </a:rPr>
                        <a:t>’, lambda: 0.0001, </a:t>
                      </a:r>
                      <a:r>
                        <a:rPr lang="en-US" sz="1400" b="0" i="0" u="none" strike="noStrike" cap="none" dirty="0" err="1">
                          <a:solidFill>
                            <a:schemeClr val="tx1"/>
                          </a:solidFill>
                          <a:effectLst/>
                          <a:latin typeface="+mn-lt"/>
                          <a:ea typeface="+mn-ea"/>
                          <a:cs typeface="+mn-cs"/>
                          <a:sym typeface="Arial"/>
                        </a:rPr>
                        <a:t>eta_init</a:t>
                      </a:r>
                      <a:r>
                        <a:rPr lang="en-US" sz="1400" b="0" i="0" u="none" strike="noStrike" cap="none" dirty="0">
                          <a:solidFill>
                            <a:schemeClr val="tx1"/>
                          </a:solidFill>
                          <a:effectLst/>
                          <a:latin typeface="+mn-lt"/>
                          <a:ea typeface="+mn-ea"/>
                          <a:cs typeface="+mn-cs"/>
                          <a:sym typeface="Arial"/>
                        </a:rPr>
                        <a:t>: 0.005, beta1: 0.95, beta2: 0.9999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15.69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20.37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dirty="0">
                          <a:solidFill>
                            <a:schemeClr val="dk1"/>
                          </a:solidFill>
                          <a:effectLst/>
                          <a:sym typeface="Arial"/>
                        </a:rPr>
                        <a:t>20.71</a:t>
                      </a:r>
                      <a:endParaRPr lang="en-US" sz="1400" b="0" i="0" u="none" strike="noStrike" cap="none" dirty="0">
                        <a:solidFill>
                          <a:schemeClr val="dk1"/>
                        </a:solidFill>
                        <a:effectLst/>
                        <a:latin typeface="+mn-lt"/>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2357743"/>
                  </a:ext>
                </a:extLst>
              </a:tr>
              <a:tr h="685112">
                <a:tc>
                  <a:txBody>
                    <a:bodyPr/>
                    <a:lstStyle/>
                    <a:p>
                      <a:r>
                        <a:rPr lang="en-US" dirty="0" err="1"/>
                        <a:t>Pytorch</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400" b="0" i="0" u="none" strike="noStrike" cap="none" dirty="0" err="1">
                          <a:solidFill>
                            <a:schemeClr val="tx1"/>
                          </a:solidFill>
                          <a:effectLst/>
                          <a:latin typeface="+mn-lt"/>
                          <a:ea typeface="+mn-ea"/>
                          <a:cs typeface="+mn-cs"/>
                          <a:sym typeface="Arial"/>
                        </a:rPr>
                        <a:t>hidden_layer_sizes</a:t>
                      </a:r>
                      <a:r>
                        <a:rPr lang="en-US" sz="1400" b="0" i="0" u="none" strike="noStrike" cap="none" dirty="0">
                          <a:solidFill>
                            <a:schemeClr val="tx1"/>
                          </a:solidFill>
                          <a:effectLst/>
                          <a:latin typeface="+mn-lt"/>
                          <a:ea typeface="+mn-ea"/>
                          <a:cs typeface="+mn-cs"/>
                          <a:sym typeface="Arial"/>
                        </a:rPr>
                        <a:t>: (128, 64), activation: '</a:t>
                      </a:r>
                      <a:r>
                        <a:rPr lang="en-US" sz="1400" b="0" i="0" u="none" strike="noStrike" cap="none" dirty="0" err="1">
                          <a:solidFill>
                            <a:schemeClr val="tx1"/>
                          </a:solidFill>
                          <a:effectLst/>
                          <a:latin typeface="+mn-lt"/>
                          <a:ea typeface="+mn-ea"/>
                          <a:cs typeface="+mn-cs"/>
                          <a:sym typeface="Arial"/>
                        </a:rPr>
                        <a:t>relu</a:t>
                      </a:r>
                      <a:r>
                        <a:rPr lang="en-US" sz="1400" b="0" i="0" u="none" strike="noStrike" cap="none" dirty="0">
                          <a:solidFill>
                            <a:schemeClr val="tx1"/>
                          </a:solidFill>
                          <a:effectLst/>
                          <a:latin typeface="+mn-lt"/>
                          <a:ea typeface="+mn-ea"/>
                          <a:cs typeface="+mn-cs"/>
                          <a:sym typeface="Arial"/>
                        </a:rPr>
                        <a:t>', </a:t>
                      </a:r>
                      <a:r>
                        <a:rPr lang="en-US" sz="1400" b="0" i="0" u="none" strike="noStrike" cap="none" dirty="0" err="1">
                          <a:solidFill>
                            <a:schemeClr val="tx1"/>
                          </a:solidFill>
                          <a:effectLst/>
                          <a:latin typeface="+mn-lt"/>
                          <a:ea typeface="+mn-ea"/>
                          <a:cs typeface="+mn-cs"/>
                          <a:sym typeface="Arial"/>
                        </a:rPr>
                        <a:t>batch_size</a:t>
                      </a:r>
                      <a:r>
                        <a:rPr lang="en-US" sz="1400" b="0" i="0" u="none" strike="noStrike" cap="none" dirty="0">
                          <a:solidFill>
                            <a:schemeClr val="tx1"/>
                          </a:solidFill>
                          <a:effectLst/>
                          <a:latin typeface="+mn-lt"/>
                          <a:ea typeface="+mn-ea"/>
                          <a:cs typeface="+mn-cs"/>
                          <a:sym typeface="Arial"/>
                        </a:rPr>
                        <a:t>: 128, optimizer: '</a:t>
                      </a:r>
                      <a:r>
                        <a:rPr lang="en-US" sz="1400" b="0" i="0" u="none" strike="noStrike" cap="none" dirty="0" err="1">
                          <a:solidFill>
                            <a:schemeClr val="tx1"/>
                          </a:solidFill>
                          <a:effectLst/>
                          <a:latin typeface="+mn-lt"/>
                          <a:ea typeface="+mn-ea"/>
                          <a:cs typeface="+mn-cs"/>
                          <a:sym typeface="Arial"/>
                        </a:rPr>
                        <a:t>adam</a:t>
                      </a:r>
                      <a:r>
                        <a:rPr lang="en-US" sz="1400" b="0" i="0" u="none" strike="noStrike" cap="none" dirty="0">
                          <a:solidFill>
                            <a:schemeClr val="tx1"/>
                          </a:solidFill>
                          <a:effectLst/>
                          <a:latin typeface="+mn-lt"/>
                          <a:ea typeface="+mn-ea"/>
                          <a:cs typeface="+mn-cs"/>
                          <a:sym typeface="Arial"/>
                        </a:rPr>
                        <a:t>’, lambda: 0.0001, eta: 0.005, beta1: 0.95, beta2: 0.9999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mn-lt"/>
                          <a:ea typeface="+mn-ea"/>
                          <a:cs typeface="+mn-cs"/>
                          <a:sym typeface="Arial"/>
                        </a:rPr>
                        <a:t>15.41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dirty="0">
                          <a:solidFill>
                            <a:schemeClr val="dk1"/>
                          </a:solidFill>
                          <a:effectLst/>
                          <a:sym typeface="Arial"/>
                        </a:rPr>
                        <a:t>20.19</a:t>
                      </a:r>
                      <a:endParaRPr lang="en-US" sz="1400" b="0" i="0" u="none" strike="noStrike" cap="none" dirty="0">
                        <a:solidFill>
                          <a:schemeClr val="dk1"/>
                        </a:solidFill>
                        <a:effectLst/>
                        <a:latin typeface="+mn-lt"/>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18.57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1413320"/>
                  </a:ext>
                </a:extLst>
              </a:tr>
              <a:tr h="685112">
                <a:tc>
                  <a:txBody>
                    <a:bodyPr/>
                    <a:lstStyle/>
                    <a:p>
                      <a:r>
                        <a:rPr lang="en-US" dirty="0" err="1"/>
                        <a:t>Keras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err="1">
                          <a:solidFill>
                            <a:schemeClr val="tx1"/>
                          </a:solidFill>
                          <a:effectLst/>
                          <a:latin typeface="+mn-lt"/>
                          <a:ea typeface="+mn-ea"/>
                          <a:cs typeface="+mn-cs"/>
                          <a:sym typeface="Arial"/>
                        </a:rPr>
                        <a:t>hidden_layer_sizes</a:t>
                      </a:r>
                      <a:r>
                        <a:rPr lang="en-US" sz="1400" b="0" i="0" u="none" strike="noStrike" cap="none" dirty="0">
                          <a:solidFill>
                            <a:schemeClr val="tx1"/>
                          </a:solidFill>
                          <a:effectLst/>
                          <a:latin typeface="+mn-lt"/>
                          <a:ea typeface="+mn-ea"/>
                          <a:cs typeface="+mn-cs"/>
                          <a:sym typeface="Arial"/>
                        </a:rPr>
                        <a:t>: (64, 64), activation: '</a:t>
                      </a:r>
                      <a:r>
                        <a:rPr lang="en-US" sz="1400" b="0" i="0" u="none" strike="noStrike" cap="none" dirty="0" err="1">
                          <a:solidFill>
                            <a:schemeClr val="tx1"/>
                          </a:solidFill>
                          <a:effectLst/>
                          <a:latin typeface="+mn-lt"/>
                          <a:ea typeface="+mn-ea"/>
                          <a:cs typeface="+mn-cs"/>
                          <a:sym typeface="Arial"/>
                        </a:rPr>
                        <a:t>relu</a:t>
                      </a:r>
                      <a:r>
                        <a:rPr lang="en-US" sz="1400" b="0" i="0" u="none" strike="noStrike" cap="none" dirty="0">
                          <a:solidFill>
                            <a:schemeClr val="tx1"/>
                          </a:solidFill>
                          <a:effectLst/>
                          <a:latin typeface="+mn-lt"/>
                          <a:ea typeface="+mn-ea"/>
                          <a:cs typeface="+mn-cs"/>
                          <a:sym typeface="Arial"/>
                        </a:rPr>
                        <a:t>', </a:t>
                      </a:r>
                      <a:r>
                        <a:rPr lang="en-US" sz="1400" b="0" i="0" u="none" strike="noStrike" cap="none" dirty="0" err="1">
                          <a:solidFill>
                            <a:schemeClr val="tx1"/>
                          </a:solidFill>
                          <a:effectLst/>
                          <a:latin typeface="+mn-lt"/>
                          <a:ea typeface="+mn-ea"/>
                          <a:cs typeface="+mn-cs"/>
                          <a:sym typeface="Arial"/>
                        </a:rPr>
                        <a:t>batch_size</a:t>
                      </a:r>
                      <a:r>
                        <a:rPr lang="en-US" sz="1400" b="0" i="0" u="none" strike="noStrike" cap="none" dirty="0">
                          <a:solidFill>
                            <a:schemeClr val="tx1"/>
                          </a:solidFill>
                          <a:effectLst/>
                          <a:latin typeface="+mn-lt"/>
                          <a:ea typeface="+mn-ea"/>
                          <a:cs typeface="+mn-cs"/>
                          <a:sym typeface="Arial"/>
                        </a:rPr>
                        <a:t>: 32, optimizer: '</a:t>
                      </a:r>
                      <a:r>
                        <a:rPr lang="en-US" sz="1400" b="0" i="0" u="none" strike="noStrike" cap="none" dirty="0" err="1">
                          <a:solidFill>
                            <a:schemeClr val="tx1"/>
                          </a:solidFill>
                          <a:effectLst/>
                          <a:latin typeface="+mn-lt"/>
                          <a:ea typeface="+mn-ea"/>
                          <a:cs typeface="+mn-cs"/>
                          <a:sym typeface="Arial"/>
                        </a:rPr>
                        <a:t>adam</a:t>
                      </a:r>
                      <a:r>
                        <a:rPr lang="en-US" sz="1400" b="0" i="0" u="none" strike="noStrike" cap="none" dirty="0">
                          <a:solidFill>
                            <a:schemeClr val="tx1"/>
                          </a:solidFill>
                          <a:effectLst/>
                          <a:latin typeface="+mn-lt"/>
                          <a:ea typeface="+mn-ea"/>
                          <a:cs typeface="+mn-cs"/>
                          <a:sym typeface="Arial"/>
                        </a:rPr>
                        <a:t>’, lambda: 0.01, eta: 0.01,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400" b="0" i="0" u="none" strike="noStrike" cap="none" dirty="0">
                        <a:solidFill>
                          <a:schemeClr val="dk1"/>
                        </a:solidFill>
                        <a:effectLst/>
                        <a:latin typeface="+mn-lt"/>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dirty="0"/>
                        <a:t>12.98</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18.48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17.26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1997142"/>
                  </a:ext>
                </a:extLst>
              </a:tr>
            </a:tbl>
          </a:graphicData>
        </a:graphic>
      </p:graphicFrame>
    </p:spTree>
    <p:extLst>
      <p:ext uri="{BB962C8B-B14F-4D97-AF65-F5344CB8AC3E}">
        <p14:creationId xmlns:p14="http://schemas.microsoft.com/office/powerpoint/2010/main" val="2465144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96065F5A-5C24-B39E-9993-6A448A8374A6}"/>
            </a:ext>
          </a:extLst>
        </p:cNvPr>
        <p:cNvGrpSpPr/>
        <p:nvPr/>
      </p:nvGrpSpPr>
      <p:grpSpPr>
        <a:xfrm>
          <a:off x="0" y="0"/>
          <a:ext cx="0" cy="0"/>
          <a:chOff x="0" y="0"/>
          <a:chExt cx="0" cy="0"/>
        </a:xfrm>
      </p:grpSpPr>
      <p:sp>
        <p:nvSpPr>
          <p:cNvPr id="119" name="Google Shape;119;p21">
            <a:extLst>
              <a:ext uri="{FF2B5EF4-FFF2-40B4-BE49-F238E27FC236}">
                <a16:creationId xmlns:a16="http://schemas.microsoft.com/office/drawing/2014/main" id="{D7BDF659-1BF0-E50C-7049-0450BA4F5188}"/>
              </a:ext>
            </a:extLst>
          </p:cNvPr>
          <p:cNvSpPr txBox="1">
            <a:spLocks noGrp="1"/>
          </p:cNvSpPr>
          <p:nvPr>
            <p:ph type="title"/>
          </p:nvPr>
        </p:nvSpPr>
        <p:spPr>
          <a:xfrm>
            <a:off x="311700" y="274320"/>
            <a:ext cx="8520600" cy="628575"/>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it" dirty="0"/>
              <a:t>learning curve Neural networks</a:t>
            </a:r>
            <a:endParaRPr dirty="0"/>
          </a:p>
        </p:txBody>
      </p:sp>
      <p:sp>
        <p:nvSpPr>
          <p:cNvPr id="121" name="Google Shape;121;p21">
            <a:extLst>
              <a:ext uri="{FF2B5EF4-FFF2-40B4-BE49-F238E27FC236}">
                <a16:creationId xmlns:a16="http://schemas.microsoft.com/office/drawing/2014/main" id="{10C6F296-DFF8-A590-94FD-A4380202BB1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15</a:t>
            </a:fld>
            <a:endParaRPr/>
          </a:p>
        </p:txBody>
      </p:sp>
      <p:pic>
        <p:nvPicPr>
          <p:cNvPr id="3" name="Picture 2">
            <a:extLst>
              <a:ext uri="{FF2B5EF4-FFF2-40B4-BE49-F238E27FC236}">
                <a16:creationId xmlns:a16="http://schemas.microsoft.com/office/drawing/2014/main" id="{2F80556E-A929-54D8-00FD-8854A96D9EDF}"/>
              </a:ext>
            </a:extLst>
          </p:cNvPr>
          <p:cNvPicPr>
            <a:picLocks noChangeAspect="1"/>
          </p:cNvPicPr>
          <p:nvPr/>
        </p:nvPicPr>
        <p:blipFill>
          <a:blip r:embed="rId3"/>
          <a:stretch>
            <a:fillRect/>
          </a:stretch>
        </p:blipFill>
        <p:spPr>
          <a:xfrm>
            <a:off x="272870" y="942528"/>
            <a:ext cx="3898388" cy="1840527"/>
          </a:xfrm>
          <a:prstGeom prst="rect">
            <a:avLst/>
          </a:prstGeom>
        </p:spPr>
      </p:pic>
      <p:sp>
        <p:nvSpPr>
          <p:cNvPr id="4" name="Text Placeholder 3">
            <a:extLst>
              <a:ext uri="{FF2B5EF4-FFF2-40B4-BE49-F238E27FC236}">
                <a16:creationId xmlns:a16="http://schemas.microsoft.com/office/drawing/2014/main" id="{FC0D4764-8A87-D3C4-756E-5F693FC31998}"/>
              </a:ext>
            </a:extLst>
          </p:cNvPr>
          <p:cNvSpPr txBox="1">
            <a:spLocks noGrp="1"/>
          </p:cNvSpPr>
          <p:nvPr>
            <p:ph type="body" idx="1"/>
          </p:nvPr>
        </p:nvSpPr>
        <p:spPr>
          <a:xfrm>
            <a:off x="1290830" y="2898661"/>
            <a:ext cx="1914144" cy="432396"/>
          </a:xfrm>
          <a:prstGeom prst="rect">
            <a:avLst/>
          </a:prstGeom>
          <a:noFill/>
        </p:spPr>
        <p:txBody>
          <a:bodyPr wrap="square" rtlCol="0">
            <a:spAutoFit/>
          </a:bodyPr>
          <a:lstStyle/>
          <a:p>
            <a:pPr marL="114300" indent="0">
              <a:buNone/>
            </a:pPr>
            <a:r>
              <a:rPr lang="en-US" sz="1400" b="1" dirty="0">
                <a:solidFill>
                  <a:schemeClr val="tx1"/>
                </a:solidFill>
              </a:rPr>
              <a:t>Scikit learn - Adam</a:t>
            </a:r>
          </a:p>
        </p:txBody>
      </p:sp>
      <p:pic>
        <p:nvPicPr>
          <p:cNvPr id="6" name="Picture 5">
            <a:extLst>
              <a:ext uri="{FF2B5EF4-FFF2-40B4-BE49-F238E27FC236}">
                <a16:creationId xmlns:a16="http://schemas.microsoft.com/office/drawing/2014/main" id="{6D0C63C9-B8A3-E221-7A72-C8D68526675C}"/>
              </a:ext>
            </a:extLst>
          </p:cNvPr>
          <p:cNvPicPr>
            <a:picLocks noChangeAspect="1"/>
          </p:cNvPicPr>
          <p:nvPr/>
        </p:nvPicPr>
        <p:blipFill>
          <a:blip r:embed="rId4"/>
          <a:stretch>
            <a:fillRect/>
          </a:stretch>
        </p:blipFill>
        <p:spPr>
          <a:xfrm>
            <a:off x="4518660" y="902895"/>
            <a:ext cx="4103084" cy="1840527"/>
          </a:xfrm>
          <a:prstGeom prst="rect">
            <a:avLst/>
          </a:prstGeom>
        </p:spPr>
      </p:pic>
      <p:sp>
        <p:nvSpPr>
          <p:cNvPr id="7" name="Text Placeholder 3">
            <a:extLst>
              <a:ext uri="{FF2B5EF4-FFF2-40B4-BE49-F238E27FC236}">
                <a16:creationId xmlns:a16="http://schemas.microsoft.com/office/drawing/2014/main" id="{92C77A94-5B7F-3FCF-5A54-57B44EF57E06}"/>
              </a:ext>
            </a:extLst>
          </p:cNvPr>
          <p:cNvSpPr txBox="1">
            <a:spLocks/>
          </p:cNvSpPr>
          <p:nvPr/>
        </p:nvSpPr>
        <p:spPr>
          <a:xfrm>
            <a:off x="5939028" y="2838087"/>
            <a:ext cx="1914144" cy="432396"/>
          </a:xfrm>
          <a:prstGeom prst="rect">
            <a:avLst/>
          </a:prstGeom>
          <a:noFill/>
          <a:ln>
            <a:noFill/>
          </a:ln>
        </p:spPr>
        <p:txBody>
          <a:bodyPr spcFirstLastPara="1" wrap="square" lIns="91425" tIns="91425" rIns="91425" bIns="91425" rtlCol="0" anchor="t" anchorCtr="0">
            <a:sp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Font typeface="Arial"/>
              <a:buNone/>
            </a:pPr>
            <a:r>
              <a:rPr lang="en-US" sz="1400" b="1" dirty="0" err="1">
                <a:solidFill>
                  <a:schemeClr val="tx1"/>
                </a:solidFill>
              </a:rPr>
              <a:t>Pytorch</a:t>
            </a:r>
            <a:r>
              <a:rPr lang="en-US" sz="1400" b="1" dirty="0">
                <a:solidFill>
                  <a:schemeClr val="tx1"/>
                </a:solidFill>
              </a:rPr>
              <a:t> - Adam</a:t>
            </a:r>
          </a:p>
        </p:txBody>
      </p:sp>
      <p:sp>
        <p:nvSpPr>
          <p:cNvPr id="8" name="Text Placeholder 3">
            <a:extLst>
              <a:ext uri="{FF2B5EF4-FFF2-40B4-BE49-F238E27FC236}">
                <a16:creationId xmlns:a16="http://schemas.microsoft.com/office/drawing/2014/main" id="{A5C80D09-AAC8-DB7B-4B97-DDF7D84554D2}"/>
              </a:ext>
            </a:extLst>
          </p:cNvPr>
          <p:cNvSpPr txBox="1">
            <a:spLocks/>
          </p:cNvSpPr>
          <p:nvPr/>
        </p:nvSpPr>
        <p:spPr>
          <a:xfrm>
            <a:off x="611264" y="4176512"/>
            <a:ext cx="1636638" cy="432396"/>
          </a:xfrm>
          <a:prstGeom prst="rect">
            <a:avLst/>
          </a:prstGeom>
          <a:noFill/>
          <a:ln>
            <a:noFill/>
          </a:ln>
        </p:spPr>
        <p:txBody>
          <a:bodyPr spcFirstLastPara="1" wrap="square" lIns="91425" tIns="91425" rIns="91425" bIns="91425" rtlCol="0" anchor="t" anchorCtr="0">
            <a:sp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Font typeface="Arial"/>
              <a:buNone/>
            </a:pPr>
            <a:r>
              <a:rPr lang="en-US" sz="1400" b="1" dirty="0" err="1">
                <a:solidFill>
                  <a:schemeClr val="tx1"/>
                </a:solidFill>
              </a:rPr>
              <a:t>Keras</a:t>
            </a:r>
            <a:r>
              <a:rPr lang="en-US" sz="1400" b="1" dirty="0">
                <a:solidFill>
                  <a:schemeClr val="tx1"/>
                </a:solidFill>
              </a:rPr>
              <a:t> - Adam</a:t>
            </a:r>
          </a:p>
        </p:txBody>
      </p:sp>
      <p:pic>
        <p:nvPicPr>
          <p:cNvPr id="9" name="Picture 8">
            <a:extLst>
              <a:ext uri="{FF2B5EF4-FFF2-40B4-BE49-F238E27FC236}">
                <a16:creationId xmlns:a16="http://schemas.microsoft.com/office/drawing/2014/main" id="{99C31D79-120A-4CD4-68DD-A5CA0D4AF4EF}"/>
              </a:ext>
            </a:extLst>
          </p:cNvPr>
          <p:cNvPicPr>
            <a:picLocks noChangeAspect="1"/>
          </p:cNvPicPr>
          <p:nvPr/>
        </p:nvPicPr>
        <p:blipFill>
          <a:blip r:embed="rId5"/>
          <a:stretch>
            <a:fillRect/>
          </a:stretch>
        </p:blipFill>
        <p:spPr>
          <a:xfrm>
            <a:off x="2464448" y="3209524"/>
            <a:ext cx="3783952" cy="1847293"/>
          </a:xfrm>
          <a:prstGeom prst="rect">
            <a:avLst/>
          </a:prstGeom>
        </p:spPr>
      </p:pic>
    </p:spTree>
    <p:extLst>
      <p:ext uri="{BB962C8B-B14F-4D97-AF65-F5344CB8AC3E}">
        <p14:creationId xmlns:p14="http://schemas.microsoft.com/office/powerpoint/2010/main" val="3662346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D3A43690-AB16-23BD-7B3E-91885FA97459}"/>
            </a:ext>
          </a:extLst>
        </p:cNvPr>
        <p:cNvGrpSpPr/>
        <p:nvPr/>
      </p:nvGrpSpPr>
      <p:grpSpPr>
        <a:xfrm>
          <a:off x="0" y="0"/>
          <a:ext cx="0" cy="0"/>
          <a:chOff x="0" y="0"/>
          <a:chExt cx="0" cy="0"/>
        </a:xfrm>
      </p:grpSpPr>
      <p:sp>
        <p:nvSpPr>
          <p:cNvPr id="119" name="Google Shape;119;p21">
            <a:extLst>
              <a:ext uri="{FF2B5EF4-FFF2-40B4-BE49-F238E27FC236}">
                <a16:creationId xmlns:a16="http://schemas.microsoft.com/office/drawing/2014/main" id="{81C146C8-994A-991F-7767-E7A2860D8E90}"/>
              </a:ext>
            </a:extLst>
          </p:cNvPr>
          <p:cNvSpPr txBox="1">
            <a:spLocks noGrp="1"/>
          </p:cNvSpPr>
          <p:nvPr>
            <p:ph type="title"/>
          </p:nvPr>
        </p:nvSpPr>
        <p:spPr>
          <a:xfrm>
            <a:off x="326390" y="124508"/>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it" dirty="0"/>
              <a:t>CUP Results (best model)</a:t>
            </a:r>
            <a:endParaRPr dirty="0"/>
          </a:p>
        </p:txBody>
      </p:sp>
      <p:sp>
        <p:nvSpPr>
          <p:cNvPr id="120" name="Google Shape;120;p21">
            <a:extLst>
              <a:ext uri="{FF2B5EF4-FFF2-40B4-BE49-F238E27FC236}">
                <a16:creationId xmlns:a16="http://schemas.microsoft.com/office/drawing/2014/main" id="{A96856AA-E9E7-BF48-FB2F-96A342B37ED4}"/>
              </a:ext>
            </a:extLst>
          </p:cNvPr>
          <p:cNvSpPr txBox="1">
            <a:spLocks noGrp="1"/>
          </p:cNvSpPr>
          <p:nvPr>
            <p:ph type="body" idx="1"/>
          </p:nvPr>
        </p:nvSpPr>
        <p:spPr>
          <a:xfrm>
            <a:off x="311700" y="789371"/>
            <a:ext cx="8520600" cy="3416400"/>
          </a:xfrm>
          <a:prstGeom prst="rect">
            <a:avLst/>
          </a:prstGeom>
          <a:noFill/>
          <a:ln>
            <a:noFill/>
          </a:ln>
        </p:spPr>
        <p:txBody>
          <a:bodyPr spcFirstLastPara="1" wrap="square" lIns="91425" tIns="91425" rIns="91425" bIns="91425" anchor="t" anchorCtr="0">
            <a:normAutofit/>
          </a:bodyPr>
          <a:lstStyle/>
          <a:p>
            <a:pPr marL="285750" lvl="0" indent="-285750" algn="just" rtl="0">
              <a:lnSpc>
                <a:spcPct val="115000"/>
              </a:lnSpc>
              <a:spcBef>
                <a:spcPts val="0"/>
              </a:spcBef>
              <a:spcAft>
                <a:spcPts val="0"/>
              </a:spcAft>
              <a:buSzPts val="1800"/>
              <a:buFontTx/>
              <a:buChar char="-"/>
            </a:pPr>
            <a:r>
              <a:rPr lang="en-US" sz="1400" dirty="0">
                <a:solidFill>
                  <a:schemeClr val="dk1"/>
                </a:solidFill>
              </a:rPr>
              <a:t>Finally, we selected KNN Regressor as the best-performing model for predicting the CUP target, as it achieved the lowest internal test MEE and also provided substantially better runtime efficiency compared with all other evaluated models. Potential overfitting was assessed and mitigated using the degree-of-freedom plot, which guided the choice of model complexity and supported a better generalization trade-off.</a:t>
            </a:r>
          </a:p>
          <a:p>
            <a:pPr marL="285750" lvl="0" indent="-285750" algn="just" rtl="0">
              <a:lnSpc>
                <a:spcPct val="115000"/>
              </a:lnSpc>
              <a:spcBef>
                <a:spcPts val="0"/>
              </a:spcBef>
              <a:spcAft>
                <a:spcPts val="0"/>
              </a:spcAft>
              <a:buSzPts val="1800"/>
              <a:buFontTx/>
              <a:buChar char="-"/>
            </a:pPr>
            <a:r>
              <a:rPr lang="en-US" sz="1400" dirty="0">
                <a:solidFill>
                  <a:schemeClr val="dk1"/>
                </a:solidFill>
              </a:rPr>
              <a:t>The KNN model achieves train MEE = 0 because predictions are computed on the same training set and the best configuration uses weights="distance". For each training sample​, KNN includes the sample itself among its nearest neighbors with distance = 0, which receives a dominating weight; therefore each point will predict </a:t>
            </a:r>
            <a:r>
              <a:rPr lang="en-US" sz="1400" dirty="0" err="1">
                <a:solidFill>
                  <a:schemeClr val="dk1"/>
                </a:solidFill>
              </a:rPr>
              <a:t>itselt</a:t>
            </a:r>
            <a:r>
              <a:rPr lang="en-US" sz="1400" dirty="0">
                <a:solidFill>
                  <a:schemeClr val="dk1"/>
                </a:solidFill>
              </a:rPr>
              <a:t>.​</a:t>
            </a:r>
            <a:endParaRPr sz="1400" dirty="0">
              <a:solidFill>
                <a:schemeClr val="dk1"/>
              </a:solidFill>
            </a:endParaRPr>
          </a:p>
        </p:txBody>
      </p:sp>
      <p:sp>
        <p:nvSpPr>
          <p:cNvPr id="121" name="Google Shape;121;p21">
            <a:extLst>
              <a:ext uri="{FF2B5EF4-FFF2-40B4-BE49-F238E27FC236}">
                <a16:creationId xmlns:a16="http://schemas.microsoft.com/office/drawing/2014/main" id="{D5F8180A-E1FA-8F55-2372-316CB7FAC25D}"/>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16</a:t>
            </a:fld>
            <a:endParaRPr/>
          </a:p>
        </p:txBody>
      </p:sp>
      <p:graphicFrame>
        <p:nvGraphicFramePr>
          <p:cNvPr id="2" name="Table 1">
            <a:extLst>
              <a:ext uri="{FF2B5EF4-FFF2-40B4-BE49-F238E27FC236}">
                <a16:creationId xmlns:a16="http://schemas.microsoft.com/office/drawing/2014/main" id="{E8BF040B-DDA1-8E03-22E5-4C52BA06912C}"/>
              </a:ext>
            </a:extLst>
          </p:cNvPr>
          <p:cNvGraphicFramePr>
            <a:graphicFrameLocks noGrp="1"/>
          </p:cNvGraphicFramePr>
          <p:nvPr>
            <p:extLst>
              <p:ext uri="{D42A27DB-BD31-4B8C-83A1-F6EECF244321}">
                <p14:modId xmlns:p14="http://schemas.microsoft.com/office/powerpoint/2010/main" val="544891869"/>
              </p:ext>
            </p:extLst>
          </p:nvPr>
        </p:nvGraphicFramePr>
        <p:xfrm>
          <a:off x="411882" y="3513444"/>
          <a:ext cx="8320236" cy="921050"/>
        </p:xfrm>
        <a:graphic>
          <a:graphicData uri="http://schemas.openxmlformats.org/drawingml/2006/table">
            <a:tbl>
              <a:tblPr firstRow="1" bandRow="1">
                <a:tableStyleId>{2D5ABB26-0587-4C30-8999-92F81FD0307C}</a:tableStyleId>
              </a:tblPr>
              <a:tblGrid>
                <a:gridCol w="1255924">
                  <a:extLst>
                    <a:ext uri="{9D8B030D-6E8A-4147-A177-3AD203B41FA5}">
                      <a16:colId xmlns:a16="http://schemas.microsoft.com/office/drawing/2014/main" val="2514604164"/>
                    </a:ext>
                  </a:extLst>
                </a:gridCol>
                <a:gridCol w="2354771">
                  <a:extLst>
                    <a:ext uri="{9D8B030D-6E8A-4147-A177-3AD203B41FA5}">
                      <a16:colId xmlns:a16="http://schemas.microsoft.com/office/drawing/2014/main" val="90098710"/>
                    </a:ext>
                  </a:extLst>
                </a:gridCol>
                <a:gridCol w="2354770">
                  <a:extLst>
                    <a:ext uri="{9D8B030D-6E8A-4147-A177-3AD203B41FA5}">
                      <a16:colId xmlns:a16="http://schemas.microsoft.com/office/drawing/2014/main" val="716406443"/>
                    </a:ext>
                  </a:extLst>
                </a:gridCol>
                <a:gridCol w="2354771">
                  <a:extLst>
                    <a:ext uri="{9D8B030D-6E8A-4147-A177-3AD203B41FA5}">
                      <a16:colId xmlns:a16="http://schemas.microsoft.com/office/drawing/2014/main" val="696202761"/>
                    </a:ext>
                  </a:extLst>
                </a:gridCol>
              </a:tblGrid>
              <a:tr h="271549">
                <a:tc>
                  <a:txBody>
                    <a:bodyPr/>
                    <a:lstStyle/>
                    <a:p>
                      <a:pPr algn="ctr"/>
                      <a:r>
                        <a:rPr lang="en-US" b="1" dirty="0"/>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b="1" dirty="0"/>
                        <a:t>Hyper parameters range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03625473"/>
                  </a:ext>
                </a:extLst>
              </a:tr>
              <a:tr h="308125">
                <a:tc>
                  <a:txBody>
                    <a:bodyPr/>
                    <a:lstStyle/>
                    <a:p>
                      <a:pPr algn="ctr"/>
                      <a:r>
                        <a:rPr lang="en-US" b="1" i="1" dirty="0"/>
                        <a:t>KNN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b="1" dirty="0"/>
                        <a:t>k</a:t>
                      </a:r>
                      <a:r>
                        <a:rPr lang="en-US" dirty="0"/>
                        <a:t>: (5, 7, 9, 11, 15, 21, 31, 41, 51); </a:t>
                      </a:r>
                      <a:r>
                        <a:rPr lang="en-US" b="1" dirty="0" err="1"/>
                        <a:t>Knn_weights</a:t>
                      </a:r>
                      <a:r>
                        <a:rPr lang="en-US" dirty="0"/>
                        <a:t>: (uniform, distance); </a:t>
                      </a:r>
                      <a:r>
                        <a:rPr lang="en-US" b="1" dirty="0" err="1"/>
                        <a:t>Knn_p</a:t>
                      </a:r>
                      <a:r>
                        <a:rPr lang="en-US" dirty="0"/>
                        <a:t>: (1,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25029140"/>
                  </a:ext>
                </a:extLst>
              </a:tr>
              <a:tr h="308125">
                <a:tc>
                  <a:txBody>
                    <a:bodyPr/>
                    <a:lstStyle/>
                    <a:p>
                      <a:pPr algn="ctr"/>
                      <a:r>
                        <a:rPr lang="en-US" b="1" i="1" dirty="0"/>
                        <a:t>Result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MEE_TR =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MEE_VAL = 15.44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MEE_TEST = 14.38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3447861"/>
                  </a:ext>
                </a:extLst>
              </a:tr>
            </a:tbl>
          </a:graphicData>
        </a:graphic>
      </p:graphicFrame>
    </p:spTree>
    <p:extLst>
      <p:ext uri="{BB962C8B-B14F-4D97-AF65-F5344CB8AC3E}">
        <p14:creationId xmlns:p14="http://schemas.microsoft.com/office/powerpoint/2010/main" val="2248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it" dirty="0"/>
              <a:t>Discussion</a:t>
            </a:r>
            <a:endParaRPr dirty="0"/>
          </a:p>
        </p:txBody>
      </p:sp>
      <p:sp>
        <p:nvSpPr>
          <p:cNvPr id="127" name="Google Shape;127;p22"/>
          <p:cNvSpPr txBox="1">
            <a:spLocks noGrp="1"/>
          </p:cNvSpPr>
          <p:nvPr>
            <p:ph type="body" idx="1"/>
          </p:nvPr>
        </p:nvSpPr>
        <p:spPr>
          <a:xfrm>
            <a:off x="311700" y="1082040"/>
            <a:ext cx="8520600" cy="3703319"/>
          </a:xfrm>
          <a:prstGeom prst="rect">
            <a:avLst/>
          </a:prstGeom>
          <a:noFill/>
          <a:ln>
            <a:noFill/>
          </a:ln>
        </p:spPr>
        <p:txBody>
          <a:bodyPr spcFirstLastPara="1" wrap="square" lIns="91425" tIns="91425" rIns="91425" bIns="91425" anchor="t" anchorCtr="0">
            <a:normAutofit/>
          </a:bodyPr>
          <a:lstStyle/>
          <a:p>
            <a:pPr marL="285750" lvl="0" indent="-285750" algn="just">
              <a:buFontTx/>
              <a:buChar char="-"/>
            </a:pPr>
            <a:r>
              <a:rPr lang="en-US" sz="1500" dirty="0">
                <a:solidFill>
                  <a:schemeClr val="tx1"/>
                </a:solidFill>
              </a:rPr>
              <a:t>We applied an advanced method </a:t>
            </a:r>
            <a:r>
              <a:rPr lang="en-US" sz="1500" dirty="0" err="1">
                <a:solidFill>
                  <a:schemeClr val="tx1"/>
                </a:solidFill>
              </a:rPr>
              <a:t>XGBoost</a:t>
            </a:r>
            <a:r>
              <a:rPr lang="en-US" sz="1500" dirty="0">
                <a:solidFill>
                  <a:schemeClr val="tx1"/>
                </a:solidFill>
              </a:rPr>
              <a:t> but did not work well for CUP because ML-CUP25 has few samples and highly correlated inputs, so boosted trees are prone to high variance/overfitting and unstable split choices. </a:t>
            </a:r>
          </a:p>
          <a:p>
            <a:pPr marL="285750" lvl="0" indent="-285750" algn="just">
              <a:buFontTx/>
              <a:buChar char="-"/>
            </a:pPr>
            <a:r>
              <a:rPr lang="en-US" sz="1500" dirty="0">
                <a:solidFill>
                  <a:schemeClr val="tx1"/>
                </a:solidFill>
              </a:rPr>
              <a:t>β1 (momentum) controls how strongly Adam smooths the gradient direction: higher β1 produces smoother train/validation MEE curves.</a:t>
            </a:r>
          </a:p>
          <a:p>
            <a:pPr marL="0" lvl="0" indent="0" algn="just">
              <a:buNone/>
            </a:pPr>
            <a:r>
              <a:rPr lang="en-US" sz="1500" dirty="0">
                <a:solidFill>
                  <a:schemeClr val="tx1"/>
                </a:solidFill>
              </a:rPr>
              <a:t>-    β2 (variance smoothing) controls how quickly Adam adapts per-parameter step sizes: higher β2 yields more stable learning curves but can slow convergence. </a:t>
            </a:r>
          </a:p>
          <a:p>
            <a:pPr marL="0" lvl="0" indent="0" algn="just">
              <a:buNone/>
            </a:pPr>
            <a:r>
              <a:rPr lang="en-US" sz="1500" dirty="0">
                <a:solidFill>
                  <a:schemeClr val="tx1"/>
                </a:solidFill>
              </a:rPr>
              <a:t>- Learning-curve smoothness increases with larger batch sizes because gradients have lower variance.</a:t>
            </a:r>
          </a:p>
          <a:p>
            <a:pPr marL="0" lvl="0" indent="0" algn="just">
              <a:buNone/>
            </a:pPr>
            <a:r>
              <a:rPr lang="en-US" sz="1500" dirty="0">
                <a:solidFill>
                  <a:schemeClr val="tx1"/>
                </a:solidFill>
              </a:rPr>
              <a:t>- </a:t>
            </a:r>
            <a:r>
              <a:rPr lang="en-US" sz="1500" dirty="0" err="1">
                <a:solidFill>
                  <a:schemeClr val="tx1"/>
                </a:solidFill>
              </a:rPr>
              <a:t>PyTorch</a:t>
            </a:r>
            <a:r>
              <a:rPr lang="en-US" sz="1500" dirty="0">
                <a:solidFill>
                  <a:schemeClr val="tx1"/>
                </a:solidFill>
              </a:rPr>
              <a:t> and </a:t>
            </a:r>
            <a:r>
              <a:rPr lang="en-US" sz="1500" dirty="0" err="1">
                <a:solidFill>
                  <a:schemeClr val="tx1"/>
                </a:solidFill>
              </a:rPr>
              <a:t>Keras</a:t>
            </a:r>
            <a:r>
              <a:rPr lang="en-US" sz="1500" dirty="0">
                <a:solidFill>
                  <a:schemeClr val="tx1"/>
                </a:solidFill>
              </a:rPr>
              <a:t> also expose learning rate directly (easier to implement modern training tricks); scikit-</a:t>
            </a:r>
            <a:r>
              <a:rPr lang="en-US" sz="1500" dirty="0" err="1">
                <a:solidFill>
                  <a:schemeClr val="tx1"/>
                </a:solidFill>
              </a:rPr>
              <a:t>learn’s</a:t>
            </a:r>
            <a:r>
              <a:rPr lang="en-US" sz="1500" dirty="0">
                <a:solidFill>
                  <a:schemeClr val="tx1"/>
                </a:solidFill>
              </a:rPr>
              <a:t> advantage is convenience for CV/tuning.</a:t>
            </a:r>
            <a:endParaRPr sz="1400" dirty="0">
              <a:solidFill>
                <a:schemeClr val="dk1"/>
              </a:solidFill>
              <a:latin typeface="Calibri"/>
              <a:ea typeface="Calibri"/>
              <a:cs typeface="Calibri"/>
              <a:sym typeface="Calibri"/>
            </a:endParaRPr>
          </a:p>
        </p:txBody>
      </p:sp>
      <p:sp>
        <p:nvSpPr>
          <p:cNvPr id="128" name="Google Shape;12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it"/>
              <a:t>Conclusions</a:t>
            </a:r>
            <a:endParaRPr/>
          </a:p>
        </p:txBody>
      </p:sp>
      <p:sp>
        <p:nvSpPr>
          <p:cNvPr id="134" name="Google Shape;134;p23"/>
          <p:cNvSpPr txBox="1">
            <a:spLocks noGrp="1"/>
          </p:cNvSpPr>
          <p:nvPr>
            <p:ph type="body" idx="1"/>
          </p:nvPr>
        </p:nvSpPr>
        <p:spPr>
          <a:xfrm>
            <a:off x="205740" y="1152475"/>
            <a:ext cx="8266718" cy="3416400"/>
          </a:xfrm>
          <a:prstGeom prst="rect">
            <a:avLst/>
          </a:prstGeom>
          <a:noFill/>
          <a:ln>
            <a:noFill/>
          </a:ln>
        </p:spPr>
        <p:txBody>
          <a:bodyPr spcFirstLastPara="1" wrap="square" lIns="91425" tIns="91425" rIns="91425" bIns="91425" anchor="t" anchorCtr="0">
            <a:normAutofit/>
          </a:bodyPr>
          <a:lstStyle/>
          <a:p>
            <a:pPr marL="114300" indent="0" algn="just">
              <a:buNone/>
            </a:pPr>
            <a:r>
              <a:rPr lang="en-US" sz="1400" dirty="0">
                <a:solidFill>
                  <a:schemeClr val="tx1"/>
                </a:solidFill>
              </a:rPr>
              <a:t>This project allowed us to gain a deeper understanding of the role of model selection, validation strategies, and hyperparameter tuning in Machine Learning. Through an extensive experimental comparison of classical models and neural networks, we observed that model complexity must be aligned with data characteristics, as advanced techniques do not necessarily guarantee better performance. Comparing different tools also highlighted trade-offs between training flexibility and experimental efficiency, strengthening our awareness of practical modeling </a:t>
            </a:r>
            <a:r>
              <a:rPr lang="en-US" sz="1400">
                <a:solidFill>
                  <a:schemeClr val="tx1"/>
                </a:solidFill>
              </a:rPr>
              <a:t>decisions.</a:t>
            </a:r>
          </a:p>
          <a:p>
            <a:pPr marL="114300" indent="0" algn="just">
              <a:buNone/>
            </a:pPr>
            <a:endParaRPr lang="en-US" sz="14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it" sz="1400" dirty="0">
                <a:solidFill>
                  <a:schemeClr val="dk1"/>
                </a:solidFill>
              </a:rPr>
              <a:t>Blind Test Results: </a:t>
            </a:r>
          </a:p>
          <a:p>
            <a:pPr marL="0" lvl="0" indent="0">
              <a:spcBef>
                <a:spcPts val="1200"/>
              </a:spcBef>
              <a:buClr>
                <a:schemeClr val="dk1"/>
              </a:buClr>
              <a:buSzPts val="1100"/>
              <a:buNone/>
            </a:pPr>
            <a:r>
              <a:rPr lang="it" sz="1400" dirty="0">
                <a:solidFill>
                  <a:schemeClr val="dk1"/>
                </a:solidFill>
              </a:rPr>
              <a:t>name of the result files:</a:t>
            </a:r>
            <a:r>
              <a:rPr lang="en-US" sz="1400" dirty="0">
                <a:solidFill>
                  <a:schemeClr val="dk1"/>
                </a:solidFill>
              </a:rPr>
              <a:t>Vietnamese-ML-CUP25-TS</a:t>
            </a:r>
            <a:r>
              <a:rPr lang="it" sz="1400" dirty="0">
                <a:solidFill>
                  <a:schemeClr val="dk1"/>
                </a:solidFill>
              </a:rPr>
              <a:t> </a:t>
            </a:r>
          </a:p>
          <a:p>
            <a:pPr marL="0" lvl="0" indent="0">
              <a:spcBef>
                <a:spcPts val="1200"/>
              </a:spcBef>
              <a:buClr>
                <a:schemeClr val="dk1"/>
              </a:buClr>
              <a:buSzPts val="1100"/>
              <a:buNone/>
            </a:pPr>
            <a:r>
              <a:rPr lang="it" sz="1400" dirty="0">
                <a:solidFill>
                  <a:schemeClr val="dk1"/>
                </a:solidFill>
              </a:rPr>
              <a:t>nickname: Vietnamese</a:t>
            </a:r>
            <a:endParaRPr sz="1400" dirty="0">
              <a:solidFill>
                <a:schemeClr val="dk1"/>
              </a:solidFill>
            </a:endParaRPr>
          </a:p>
          <a:p>
            <a:pPr marL="0" lvl="0" indent="0" algn="l" rtl="0">
              <a:lnSpc>
                <a:spcPct val="115000"/>
              </a:lnSpc>
              <a:spcBef>
                <a:spcPts val="1200"/>
              </a:spcBef>
              <a:spcAft>
                <a:spcPts val="1200"/>
              </a:spcAft>
              <a:buSzPts val="1800"/>
              <a:buNone/>
            </a:pPr>
            <a:endParaRPr dirty="0">
              <a:solidFill>
                <a:schemeClr val="dk1"/>
              </a:solidFill>
            </a:endParaRPr>
          </a:p>
        </p:txBody>
      </p:sp>
      <p:sp>
        <p:nvSpPr>
          <p:cNvPr id="135" name="Google Shape;13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4B49-62CB-62ED-469A-A759F88B133F}"/>
              </a:ext>
            </a:extLst>
          </p:cNvPr>
          <p:cNvSpPr>
            <a:spLocks noGrp="1"/>
          </p:cNvSpPr>
          <p:nvPr>
            <p:ph type="title"/>
          </p:nvPr>
        </p:nvSpPr>
        <p:spPr>
          <a:xfrm>
            <a:off x="311700" y="160020"/>
            <a:ext cx="8520600" cy="464820"/>
          </a:xfrm>
        </p:spPr>
        <p:txBody>
          <a:bodyPr>
            <a:noAutofit/>
          </a:bodyPr>
          <a:lstStyle/>
          <a:p>
            <a:pPr algn="l"/>
            <a:r>
              <a:rPr lang="it-IT" sz="2400" dirty="0" err="1"/>
              <a:t>Appendix</a:t>
            </a:r>
            <a:r>
              <a:rPr lang="it-IT" sz="2400" dirty="0"/>
              <a:t> 1: Monk 1 </a:t>
            </a:r>
            <a:r>
              <a:rPr lang="it-IT" sz="2400" dirty="0" err="1"/>
              <a:t>evaluation</a:t>
            </a:r>
            <a:r>
              <a:rPr lang="it-IT" sz="2400" dirty="0"/>
              <a:t> </a:t>
            </a:r>
            <a:r>
              <a:rPr lang="it-IT" sz="2400" dirty="0" err="1"/>
              <a:t>metrics</a:t>
            </a:r>
            <a:endParaRPr lang="en-US" sz="2400" dirty="0"/>
          </a:p>
        </p:txBody>
      </p:sp>
      <p:sp>
        <p:nvSpPr>
          <p:cNvPr id="3" name="Slide Number Placeholder 2">
            <a:extLst>
              <a:ext uri="{FF2B5EF4-FFF2-40B4-BE49-F238E27FC236}">
                <a16:creationId xmlns:a16="http://schemas.microsoft.com/office/drawing/2014/main" id="{05904570-9B97-CB4D-2B5E-6D835917637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 smtClean="0"/>
              <a:t>19</a:t>
            </a:fld>
            <a:endParaRPr lang="it"/>
          </a:p>
        </p:txBody>
      </p:sp>
      <p:pic>
        <p:nvPicPr>
          <p:cNvPr id="20" name="Picture 19">
            <a:extLst>
              <a:ext uri="{FF2B5EF4-FFF2-40B4-BE49-F238E27FC236}">
                <a16:creationId xmlns:a16="http://schemas.microsoft.com/office/drawing/2014/main" id="{2659F467-E898-EF58-98BD-7E60FD6F982B}"/>
              </a:ext>
            </a:extLst>
          </p:cNvPr>
          <p:cNvPicPr>
            <a:picLocks noChangeAspect="1"/>
          </p:cNvPicPr>
          <p:nvPr/>
        </p:nvPicPr>
        <p:blipFill>
          <a:blip r:embed="rId2"/>
          <a:stretch>
            <a:fillRect/>
          </a:stretch>
        </p:blipFill>
        <p:spPr>
          <a:xfrm>
            <a:off x="311700" y="746760"/>
            <a:ext cx="8324122" cy="1933767"/>
          </a:xfrm>
          <a:prstGeom prst="rect">
            <a:avLst/>
          </a:prstGeom>
        </p:spPr>
      </p:pic>
      <p:pic>
        <p:nvPicPr>
          <p:cNvPr id="22" name="Picture 21">
            <a:extLst>
              <a:ext uri="{FF2B5EF4-FFF2-40B4-BE49-F238E27FC236}">
                <a16:creationId xmlns:a16="http://schemas.microsoft.com/office/drawing/2014/main" id="{4FA5930A-1D5F-7936-54E9-1F97D7F647AD}"/>
              </a:ext>
            </a:extLst>
          </p:cNvPr>
          <p:cNvPicPr>
            <a:picLocks noChangeAspect="1"/>
          </p:cNvPicPr>
          <p:nvPr/>
        </p:nvPicPr>
        <p:blipFill>
          <a:blip r:embed="rId3"/>
          <a:stretch>
            <a:fillRect/>
          </a:stretch>
        </p:blipFill>
        <p:spPr>
          <a:xfrm>
            <a:off x="311700" y="2738401"/>
            <a:ext cx="8324122" cy="2121616"/>
          </a:xfrm>
          <a:prstGeom prst="rect">
            <a:avLst/>
          </a:prstGeom>
        </p:spPr>
      </p:pic>
    </p:spTree>
    <p:extLst>
      <p:ext uri="{BB962C8B-B14F-4D97-AF65-F5344CB8AC3E}">
        <p14:creationId xmlns:p14="http://schemas.microsoft.com/office/powerpoint/2010/main" val="2319845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E85B6-F41D-F0D6-ACC2-0B95A4CF9428}"/>
              </a:ext>
            </a:extLst>
          </p:cNvPr>
          <p:cNvSpPr>
            <a:spLocks noGrp="1"/>
          </p:cNvSpPr>
          <p:nvPr>
            <p:ph type="title"/>
          </p:nvPr>
        </p:nvSpPr>
        <p:spPr>
          <a:xfrm>
            <a:off x="311700" y="320040"/>
            <a:ext cx="8520600" cy="393600"/>
          </a:xfrm>
        </p:spPr>
        <p:txBody>
          <a:bodyPr>
            <a:noAutofit/>
          </a:bodyPr>
          <a:lstStyle/>
          <a:p>
            <a:pPr algn="l"/>
            <a:r>
              <a:rPr lang="it-IT" sz="2400" dirty="0" err="1"/>
              <a:t>Appendix</a:t>
            </a:r>
            <a:r>
              <a:rPr lang="it-IT" sz="2400" dirty="0"/>
              <a:t> 2: Monk 2 </a:t>
            </a:r>
            <a:r>
              <a:rPr lang="it-IT" sz="2400" dirty="0" err="1"/>
              <a:t>evaluation</a:t>
            </a:r>
            <a:r>
              <a:rPr lang="it-IT" sz="2400" dirty="0"/>
              <a:t> </a:t>
            </a:r>
            <a:r>
              <a:rPr lang="it-IT" sz="2400" dirty="0" err="1"/>
              <a:t>metrics</a:t>
            </a:r>
            <a:endParaRPr lang="en-US" sz="2400" dirty="0"/>
          </a:p>
        </p:txBody>
      </p:sp>
      <p:sp>
        <p:nvSpPr>
          <p:cNvPr id="3" name="Slide Number Placeholder 2">
            <a:extLst>
              <a:ext uri="{FF2B5EF4-FFF2-40B4-BE49-F238E27FC236}">
                <a16:creationId xmlns:a16="http://schemas.microsoft.com/office/drawing/2014/main" id="{50E3E27B-D0C2-621D-56C1-0B77BEEE71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 smtClean="0"/>
              <a:t>20</a:t>
            </a:fld>
            <a:endParaRPr lang="it"/>
          </a:p>
        </p:txBody>
      </p:sp>
      <p:pic>
        <p:nvPicPr>
          <p:cNvPr id="5" name="Picture 4">
            <a:extLst>
              <a:ext uri="{FF2B5EF4-FFF2-40B4-BE49-F238E27FC236}">
                <a16:creationId xmlns:a16="http://schemas.microsoft.com/office/drawing/2014/main" id="{2219D145-6EC4-1609-CE0E-CC9C67D5C0A5}"/>
              </a:ext>
            </a:extLst>
          </p:cNvPr>
          <p:cNvPicPr>
            <a:picLocks noChangeAspect="1"/>
          </p:cNvPicPr>
          <p:nvPr/>
        </p:nvPicPr>
        <p:blipFill>
          <a:blip r:embed="rId2"/>
          <a:stretch>
            <a:fillRect/>
          </a:stretch>
        </p:blipFill>
        <p:spPr>
          <a:xfrm>
            <a:off x="381000" y="755795"/>
            <a:ext cx="8205068" cy="1924774"/>
          </a:xfrm>
          <a:prstGeom prst="rect">
            <a:avLst/>
          </a:prstGeom>
        </p:spPr>
      </p:pic>
      <p:pic>
        <p:nvPicPr>
          <p:cNvPr id="7" name="Picture 6">
            <a:extLst>
              <a:ext uri="{FF2B5EF4-FFF2-40B4-BE49-F238E27FC236}">
                <a16:creationId xmlns:a16="http://schemas.microsoft.com/office/drawing/2014/main" id="{80532751-40E8-0856-586A-0A2F36BFA682}"/>
              </a:ext>
            </a:extLst>
          </p:cNvPr>
          <p:cNvPicPr>
            <a:picLocks noChangeAspect="1"/>
          </p:cNvPicPr>
          <p:nvPr/>
        </p:nvPicPr>
        <p:blipFill>
          <a:blip r:embed="rId3"/>
          <a:stretch>
            <a:fillRect/>
          </a:stretch>
        </p:blipFill>
        <p:spPr>
          <a:xfrm>
            <a:off x="311700" y="2680569"/>
            <a:ext cx="8274368" cy="2142891"/>
          </a:xfrm>
          <a:prstGeom prst="rect">
            <a:avLst/>
          </a:prstGeom>
        </p:spPr>
      </p:pic>
    </p:spTree>
    <p:extLst>
      <p:ext uri="{BB962C8B-B14F-4D97-AF65-F5344CB8AC3E}">
        <p14:creationId xmlns:p14="http://schemas.microsoft.com/office/powerpoint/2010/main" val="1118330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30F2C-4D3C-95BE-8DEF-E958663642BB}"/>
              </a:ext>
            </a:extLst>
          </p:cNvPr>
          <p:cNvSpPr>
            <a:spLocks noGrp="1"/>
          </p:cNvSpPr>
          <p:nvPr>
            <p:ph type="title"/>
          </p:nvPr>
        </p:nvSpPr>
        <p:spPr>
          <a:xfrm>
            <a:off x="311700" y="320040"/>
            <a:ext cx="8520600" cy="586740"/>
          </a:xfrm>
        </p:spPr>
        <p:txBody>
          <a:bodyPr>
            <a:normAutofit/>
          </a:bodyPr>
          <a:lstStyle/>
          <a:p>
            <a:pPr algn="l"/>
            <a:r>
              <a:rPr lang="it-IT" sz="2400" dirty="0" err="1"/>
              <a:t>Appendix</a:t>
            </a:r>
            <a:r>
              <a:rPr lang="it-IT" sz="2400" dirty="0"/>
              <a:t> 3: Monk 3 </a:t>
            </a:r>
            <a:r>
              <a:rPr lang="it-IT" sz="2400" dirty="0" err="1"/>
              <a:t>evaluation</a:t>
            </a:r>
            <a:r>
              <a:rPr lang="it-IT" sz="2400" dirty="0"/>
              <a:t> </a:t>
            </a:r>
            <a:r>
              <a:rPr lang="it-IT" sz="2400" dirty="0" err="1"/>
              <a:t>metrics</a:t>
            </a:r>
            <a:endParaRPr lang="en-US" sz="2400" dirty="0"/>
          </a:p>
        </p:txBody>
      </p:sp>
      <p:sp>
        <p:nvSpPr>
          <p:cNvPr id="3" name="Slide Number Placeholder 2">
            <a:extLst>
              <a:ext uri="{FF2B5EF4-FFF2-40B4-BE49-F238E27FC236}">
                <a16:creationId xmlns:a16="http://schemas.microsoft.com/office/drawing/2014/main" id="{085631F8-42B9-6AE8-0FEE-13BD75BAAF4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 smtClean="0"/>
              <a:t>21</a:t>
            </a:fld>
            <a:endParaRPr lang="it"/>
          </a:p>
        </p:txBody>
      </p:sp>
      <p:pic>
        <p:nvPicPr>
          <p:cNvPr id="5" name="Picture 4">
            <a:extLst>
              <a:ext uri="{FF2B5EF4-FFF2-40B4-BE49-F238E27FC236}">
                <a16:creationId xmlns:a16="http://schemas.microsoft.com/office/drawing/2014/main" id="{9B253EBB-1D57-A175-0EF7-2F9524229B76}"/>
              </a:ext>
            </a:extLst>
          </p:cNvPr>
          <p:cNvPicPr>
            <a:picLocks noChangeAspect="1"/>
          </p:cNvPicPr>
          <p:nvPr/>
        </p:nvPicPr>
        <p:blipFill>
          <a:blip r:embed="rId2"/>
          <a:stretch>
            <a:fillRect/>
          </a:stretch>
        </p:blipFill>
        <p:spPr>
          <a:xfrm>
            <a:off x="419100" y="845821"/>
            <a:ext cx="8122920" cy="1967318"/>
          </a:xfrm>
          <a:prstGeom prst="rect">
            <a:avLst/>
          </a:prstGeom>
        </p:spPr>
      </p:pic>
      <p:pic>
        <p:nvPicPr>
          <p:cNvPr id="7" name="Picture 6">
            <a:extLst>
              <a:ext uri="{FF2B5EF4-FFF2-40B4-BE49-F238E27FC236}">
                <a16:creationId xmlns:a16="http://schemas.microsoft.com/office/drawing/2014/main" id="{D7EF4840-4CB0-CF9B-8364-C02A3F935F25}"/>
              </a:ext>
            </a:extLst>
          </p:cNvPr>
          <p:cNvPicPr>
            <a:picLocks noChangeAspect="1"/>
          </p:cNvPicPr>
          <p:nvPr/>
        </p:nvPicPr>
        <p:blipFill>
          <a:blip r:embed="rId3"/>
          <a:stretch>
            <a:fillRect/>
          </a:stretch>
        </p:blipFill>
        <p:spPr>
          <a:xfrm>
            <a:off x="349538" y="2813138"/>
            <a:ext cx="8122920" cy="2088974"/>
          </a:xfrm>
          <a:prstGeom prst="rect">
            <a:avLst/>
          </a:prstGeom>
        </p:spPr>
      </p:pic>
    </p:spTree>
    <p:extLst>
      <p:ext uri="{BB962C8B-B14F-4D97-AF65-F5344CB8AC3E}">
        <p14:creationId xmlns:p14="http://schemas.microsoft.com/office/powerpoint/2010/main" val="3341317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5"/>
          <p:cNvSpPr txBox="1">
            <a:spLocks noGrp="1"/>
          </p:cNvSpPr>
          <p:nvPr>
            <p:ph type="title"/>
          </p:nvPr>
        </p:nvSpPr>
        <p:spPr>
          <a:xfrm>
            <a:off x="311700" y="445025"/>
            <a:ext cx="8520600" cy="595755"/>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it" sz="2400" dirty="0"/>
              <a:t>Appendix 4: SVR</a:t>
            </a:r>
            <a:endParaRPr sz="2400" dirty="0"/>
          </a:p>
        </p:txBody>
      </p:sp>
      <p:sp>
        <p:nvSpPr>
          <p:cNvPr id="148" name="Google Shape;148;p25"/>
          <p:cNvSpPr txBox="1">
            <a:spLocks noGrp="1"/>
          </p:cNvSpPr>
          <p:nvPr>
            <p:ph type="body" idx="1"/>
          </p:nvPr>
        </p:nvSpPr>
        <p:spPr>
          <a:xfrm>
            <a:off x="344050" y="936702"/>
            <a:ext cx="8520600" cy="3625848"/>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US" sz="1400" dirty="0">
                <a:solidFill>
                  <a:schemeClr val="tx1"/>
                </a:solidFill>
              </a:rPr>
              <a:t>Below are some plots to see best range of hyper parameters for SVR</a:t>
            </a:r>
          </a:p>
        </p:txBody>
      </p:sp>
      <p:sp>
        <p:nvSpPr>
          <p:cNvPr id="149" name="Google Shape;149;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22</a:t>
            </a:fld>
            <a:endParaRPr/>
          </a:p>
        </p:txBody>
      </p:sp>
      <p:pic>
        <p:nvPicPr>
          <p:cNvPr id="3" name="Picture 2">
            <a:extLst>
              <a:ext uri="{FF2B5EF4-FFF2-40B4-BE49-F238E27FC236}">
                <a16:creationId xmlns:a16="http://schemas.microsoft.com/office/drawing/2014/main" id="{5A1F7443-FA05-8A57-3413-ED83CCB74DC6}"/>
              </a:ext>
            </a:extLst>
          </p:cNvPr>
          <p:cNvPicPr>
            <a:picLocks noChangeAspect="1"/>
          </p:cNvPicPr>
          <p:nvPr/>
        </p:nvPicPr>
        <p:blipFill>
          <a:blip r:embed="rId3"/>
          <a:stretch>
            <a:fillRect/>
          </a:stretch>
        </p:blipFill>
        <p:spPr>
          <a:xfrm>
            <a:off x="279350" y="1438003"/>
            <a:ext cx="3402191" cy="1855740"/>
          </a:xfrm>
          <a:prstGeom prst="rect">
            <a:avLst/>
          </a:prstGeom>
        </p:spPr>
      </p:pic>
      <p:pic>
        <p:nvPicPr>
          <p:cNvPr id="5" name="Picture 4">
            <a:extLst>
              <a:ext uri="{FF2B5EF4-FFF2-40B4-BE49-F238E27FC236}">
                <a16:creationId xmlns:a16="http://schemas.microsoft.com/office/drawing/2014/main" id="{976D828F-C356-8228-E7D6-E45B6D7A3159}"/>
              </a:ext>
            </a:extLst>
          </p:cNvPr>
          <p:cNvPicPr>
            <a:picLocks noChangeAspect="1"/>
          </p:cNvPicPr>
          <p:nvPr/>
        </p:nvPicPr>
        <p:blipFill>
          <a:blip r:embed="rId4"/>
          <a:stretch>
            <a:fillRect/>
          </a:stretch>
        </p:blipFill>
        <p:spPr>
          <a:xfrm>
            <a:off x="4655484" y="1438004"/>
            <a:ext cx="3475056" cy="1889124"/>
          </a:xfrm>
          <a:prstGeom prst="rect">
            <a:avLst/>
          </a:prstGeom>
        </p:spPr>
      </p:pic>
      <p:pic>
        <p:nvPicPr>
          <p:cNvPr id="7" name="Picture 6">
            <a:extLst>
              <a:ext uri="{FF2B5EF4-FFF2-40B4-BE49-F238E27FC236}">
                <a16:creationId xmlns:a16="http://schemas.microsoft.com/office/drawing/2014/main" id="{D76ED9D4-F30F-B489-FAA8-BD44B15FF083}"/>
              </a:ext>
            </a:extLst>
          </p:cNvPr>
          <p:cNvPicPr>
            <a:picLocks noChangeAspect="1"/>
          </p:cNvPicPr>
          <p:nvPr/>
        </p:nvPicPr>
        <p:blipFill>
          <a:blip r:embed="rId5"/>
          <a:stretch>
            <a:fillRect/>
          </a:stretch>
        </p:blipFill>
        <p:spPr>
          <a:xfrm>
            <a:off x="2527339" y="3293743"/>
            <a:ext cx="3286722" cy="176048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3E1E1FA5-7D8C-7ED9-95A1-F449162C69C7}"/>
            </a:ext>
          </a:extLst>
        </p:cNvPr>
        <p:cNvGrpSpPr/>
        <p:nvPr/>
      </p:nvGrpSpPr>
      <p:grpSpPr>
        <a:xfrm>
          <a:off x="0" y="0"/>
          <a:ext cx="0" cy="0"/>
          <a:chOff x="0" y="0"/>
          <a:chExt cx="0" cy="0"/>
        </a:xfrm>
      </p:grpSpPr>
      <p:sp>
        <p:nvSpPr>
          <p:cNvPr id="147" name="Google Shape;147;p25">
            <a:extLst>
              <a:ext uri="{FF2B5EF4-FFF2-40B4-BE49-F238E27FC236}">
                <a16:creationId xmlns:a16="http://schemas.microsoft.com/office/drawing/2014/main" id="{DF05EBF3-498F-5357-E55D-AA517053C20E}"/>
              </a:ext>
            </a:extLst>
          </p:cNvPr>
          <p:cNvSpPr txBox="1">
            <a:spLocks noGrp="1"/>
          </p:cNvSpPr>
          <p:nvPr>
            <p:ph type="title"/>
          </p:nvPr>
        </p:nvSpPr>
        <p:spPr>
          <a:xfrm>
            <a:off x="311700" y="124985"/>
            <a:ext cx="8520600" cy="595755"/>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it" sz="2400" dirty="0"/>
              <a:t>Appendix 5: XGBoost</a:t>
            </a:r>
            <a:endParaRPr sz="2400" dirty="0"/>
          </a:p>
        </p:txBody>
      </p:sp>
      <p:sp>
        <p:nvSpPr>
          <p:cNvPr id="148" name="Google Shape;148;p25">
            <a:extLst>
              <a:ext uri="{FF2B5EF4-FFF2-40B4-BE49-F238E27FC236}">
                <a16:creationId xmlns:a16="http://schemas.microsoft.com/office/drawing/2014/main" id="{E27D4017-A71B-9674-65A8-25378728DD9D}"/>
              </a:ext>
            </a:extLst>
          </p:cNvPr>
          <p:cNvSpPr txBox="1">
            <a:spLocks noGrp="1"/>
          </p:cNvSpPr>
          <p:nvPr>
            <p:ph type="body" idx="1"/>
          </p:nvPr>
        </p:nvSpPr>
        <p:spPr>
          <a:xfrm>
            <a:off x="344050" y="617220"/>
            <a:ext cx="8520600" cy="394533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US" sz="1400" dirty="0">
                <a:solidFill>
                  <a:schemeClr val="tx1"/>
                </a:solidFill>
              </a:rPr>
              <a:t>Below are some plots to see best range of hyper parameters for </a:t>
            </a:r>
            <a:r>
              <a:rPr lang="en-US" sz="1400" dirty="0" err="1">
                <a:solidFill>
                  <a:schemeClr val="tx1"/>
                </a:solidFill>
              </a:rPr>
              <a:t>XGBoost</a:t>
            </a:r>
            <a:endParaRPr lang="en-US" sz="1400" dirty="0">
              <a:solidFill>
                <a:schemeClr val="tx1"/>
              </a:solidFill>
            </a:endParaRPr>
          </a:p>
        </p:txBody>
      </p:sp>
      <p:sp>
        <p:nvSpPr>
          <p:cNvPr id="149" name="Google Shape;149;p25">
            <a:extLst>
              <a:ext uri="{FF2B5EF4-FFF2-40B4-BE49-F238E27FC236}">
                <a16:creationId xmlns:a16="http://schemas.microsoft.com/office/drawing/2014/main" id="{22B1C384-AF87-5AAD-5027-071B3F00A74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23</a:t>
            </a:fld>
            <a:endParaRPr/>
          </a:p>
        </p:txBody>
      </p:sp>
      <p:pic>
        <p:nvPicPr>
          <p:cNvPr id="4" name="Picture 3">
            <a:extLst>
              <a:ext uri="{FF2B5EF4-FFF2-40B4-BE49-F238E27FC236}">
                <a16:creationId xmlns:a16="http://schemas.microsoft.com/office/drawing/2014/main" id="{83CDCA01-D2D0-BC7F-B36E-4485B1C49882}"/>
              </a:ext>
            </a:extLst>
          </p:cNvPr>
          <p:cNvPicPr>
            <a:picLocks noChangeAspect="1"/>
          </p:cNvPicPr>
          <p:nvPr/>
        </p:nvPicPr>
        <p:blipFill>
          <a:blip r:embed="rId3"/>
          <a:stretch>
            <a:fillRect/>
          </a:stretch>
        </p:blipFill>
        <p:spPr>
          <a:xfrm>
            <a:off x="279350" y="998220"/>
            <a:ext cx="3213709" cy="1731012"/>
          </a:xfrm>
          <a:prstGeom prst="rect">
            <a:avLst/>
          </a:prstGeom>
        </p:spPr>
      </p:pic>
      <p:pic>
        <p:nvPicPr>
          <p:cNvPr id="8" name="Picture 7">
            <a:extLst>
              <a:ext uri="{FF2B5EF4-FFF2-40B4-BE49-F238E27FC236}">
                <a16:creationId xmlns:a16="http://schemas.microsoft.com/office/drawing/2014/main" id="{31C74061-855A-5B22-422F-A8294FA41926}"/>
              </a:ext>
            </a:extLst>
          </p:cNvPr>
          <p:cNvPicPr>
            <a:picLocks noChangeAspect="1"/>
          </p:cNvPicPr>
          <p:nvPr/>
        </p:nvPicPr>
        <p:blipFill>
          <a:blip r:embed="rId4"/>
          <a:stretch>
            <a:fillRect/>
          </a:stretch>
        </p:blipFill>
        <p:spPr>
          <a:xfrm>
            <a:off x="4604350" y="998220"/>
            <a:ext cx="3139233" cy="1731012"/>
          </a:xfrm>
          <a:prstGeom prst="rect">
            <a:avLst/>
          </a:prstGeom>
        </p:spPr>
      </p:pic>
      <p:pic>
        <p:nvPicPr>
          <p:cNvPr id="10" name="Picture 9">
            <a:extLst>
              <a:ext uri="{FF2B5EF4-FFF2-40B4-BE49-F238E27FC236}">
                <a16:creationId xmlns:a16="http://schemas.microsoft.com/office/drawing/2014/main" id="{78B26EEC-385F-A0E4-AC3E-92DE37FC62C9}"/>
              </a:ext>
            </a:extLst>
          </p:cNvPr>
          <p:cNvPicPr>
            <a:picLocks noChangeAspect="1"/>
          </p:cNvPicPr>
          <p:nvPr/>
        </p:nvPicPr>
        <p:blipFill>
          <a:blip r:embed="rId5"/>
          <a:stretch>
            <a:fillRect/>
          </a:stretch>
        </p:blipFill>
        <p:spPr>
          <a:xfrm>
            <a:off x="279350" y="3006713"/>
            <a:ext cx="3213709" cy="1747680"/>
          </a:xfrm>
          <a:prstGeom prst="rect">
            <a:avLst/>
          </a:prstGeom>
        </p:spPr>
      </p:pic>
      <p:pic>
        <p:nvPicPr>
          <p:cNvPr id="12" name="Picture 11">
            <a:extLst>
              <a:ext uri="{FF2B5EF4-FFF2-40B4-BE49-F238E27FC236}">
                <a16:creationId xmlns:a16="http://schemas.microsoft.com/office/drawing/2014/main" id="{F931B457-229F-EF45-89BF-E469CE1083EA}"/>
              </a:ext>
            </a:extLst>
          </p:cNvPr>
          <p:cNvPicPr>
            <a:picLocks noChangeAspect="1"/>
          </p:cNvPicPr>
          <p:nvPr/>
        </p:nvPicPr>
        <p:blipFill>
          <a:blip r:embed="rId6"/>
          <a:stretch>
            <a:fillRect/>
          </a:stretch>
        </p:blipFill>
        <p:spPr>
          <a:xfrm>
            <a:off x="4529874" y="3088739"/>
            <a:ext cx="3213709" cy="1751291"/>
          </a:xfrm>
          <a:prstGeom prst="rect">
            <a:avLst/>
          </a:prstGeom>
        </p:spPr>
      </p:pic>
    </p:spTree>
    <p:extLst>
      <p:ext uri="{BB962C8B-B14F-4D97-AF65-F5344CB8AC3E}">
        <p14:creationId xmlns:p14="http://schemas.microsoft.com/office/powerpoint/2010/main" val="1339185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A382AA83-5418-574B-07D1-D73A3FB105C8}"/>
            </a:ext>
          </a:extLst>
        </p:cNvPr>
        <p:cNvGrpSpPr/>
        <p:nvPr/>
      </p:nvGrpSpPr>
      <p:grpSpPr>
        <a:xfrm>
          <a:off x="0" y="0"/>
          <a:ext cx="0" cy="0"/>
          <a:chOff x="0" y="0"/>
          <a:chExt cx="0" cy="0"/>
        </a:xfrm>
      </p:grpSpPr>
      <p:sp>
        <p:nvSpPr>
          <p:cNvPr id="147" name="Google Shape;147;p25">
            <a:extLst>
              <a:ext uri="{FF2B5EF4-FFF2-40B4-BE49-F238E27FC236}">
                <a16:creationId xmlns:a16="http://schemas.microsoft.com/office/drawing/2014/main" id="{BA2AD3DD-21EF-F343-8BA4-3B58394B35A8}"/>
              </a:ext>
            </a:extLst>
          </p:cNvPr>
          <p:cNvSpPr txBox="1">
            <a:spLocks noGrp="1"/>
          </p:cNvSpPr>
          <p:nvPr>
            <p:ph type="title"/>
          </p:nvPr>
        </p:nvSpPr>
        <p:spPr>
          <a:xfrm>
            <a:off x="311700" y="124985"/>
            <a:ext cx="8520600" cy="595755"/>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it" sz="2400" dirty="0"/>
              <a:t>Appendix 6: Random Forest</a:t>
            </a:r>
            <a:endParaRPr sz="2400" dirty="0"/>
          </a:p>
        </p:txBody>
      </p:sp>
      <p:sp>
        <p:nvSpPr>
          <p:cNvPr id="148" name="Google Shape;148;p25">
            <a:extLst>
              <a:ext uri="{FF2B5EF4-FFF2-40B4-BE49-F238E27FC236}">
                <a16:creationId xmlns:a16="http://schemas.microsoft.com/office/drawing/2014/main" id="{15D88652-5515-AC82-2920-FB4CDDE916B1}"/>
              </a:ext>
            </a:extLst>
          </p:cNvPr>
          <p:cNvSpPr txBox="1">
            <a:spLocks noGrp="1"/>
          </p:cNvSpPr>
          <p:nvPr>
            <p:ph type="body" idx="1"/>
          </p:nvPr>
        </p:nvSpPr>
        <p:spPr>
          <a:xfrm>
            <a:off x="344050" y="617220"/>
            <a:ext cx="8520600" cy="394533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US" sz="1400" dirty="0">
                <a:solidFill>
                  <a:schemeClr val="tx1"/>
                </a:solidFill>
              </a:rPr>
              <a:t>Below are some plots to see best range of hyper parameters for Random Forest</a:t>
            </a:r>
          </a:p>
        </p:txBody>
      </p:sp>
      <p:sp>
        <p:nvSpPr>
          <p:cNvPr id="149" name="Google Shape;149;p25">
            <a:extLst>
              <a:ext uri="{FF2B5EF4-FFF2-40B4-BE49-F238E27FC236}">
                <a16:creationId xmlns:a16="http://schemas.microsoft.com/office/drawing/2014/main" id="{0AF831AF-101F-68FB-6C9D-833D70ED9FF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24</a:t>
            </a:fld>
            <a:endParaRPr/>
          </a:p>
        </p:txBody>
      </p:sp>
      <p:pic>
        <p:nvPicPr>
          <p:cNvPr id="3" name="Picture 2">
            <a:extLst>
              <a:ext uri="{FF2B5EF4-FFF2-40B4-BE49-F238E27FC236}">
                <a16:creationId xmlns:a16="http://schemas.microsoft.com/office/drawing/2014/main" id="{5C969714-7659-97CA-DC99-B1F42BF3A030}"/>
              </a:ext>
            </a:extLst>
          </p:cNvPr>
          <p:cNvPicPr>
            <a:picLocks noChangeAspect="1"/>
          </p:cNvPicPr>
          <p:nvPr/>
        </p:nvPicPr>
        <p:blipFill>
          <a:blip r:embed="rId3"/>
          <a:stretch>
            <a:fillRect/>
          </a:stretch>
        </p:blipFill>
        <p:spPr>
          <a:xfrm>
            <a:off x="122842" y="1354968"/>
            <a:ext cx="4238655" cy="2331499"/>
          </a:xfrm>
          <a:prstGeom prst="rect">
            <a:avLst/>
          </a:prstGeom>
        </p:spPr>
      </p:pic>
      <p:pic>
        <p:nvPicPr>
          <p:cNvPr id="6" name="Picture 5">
            <a:extLst>
              <a:ext uri="{FF2B5EF4-FFF2-40B4-BE49-F238E27FC236}">
                <a16:creationId xmlns:a16="http://schemas.microsoft.com/office/drawing/2014/main" id="{2ACD7771-A75D-ABF2-9F53-EECB27B6A264}"/>
              </a:ext>
            </a:extLst>
          </p:cNvPr>
          <p:cNvPicPr>
            <a:picLocks noChangeAspect="1"/>
          </p:cNvPicPr>
          <p:nvPr/>
        </p:nvPicPr>
        <p:blipFill>
          <a:blip r:embed="rId4"/>
          <a:stretch>
            <a:fillRect/>
          </a:stretch>
        </p:blipFill>
        <p:spPr>
          <a:xfrm>
            <a:off x="4531012" y="1354968"/>
            <a:ext cx="4490146" cy="2469833"/>
          </a:xfrm>
          <a:prstGeom prst="rect">
            <a:avLst/>
          </a:prstGeom>
        </p:spPr>
      </p:pic>
    </p:spTree>
    <p:extLst>
      <p:ext uri="{BB962C8B-B14F-4D97-AF65-F5344CB8AC3E}">
        <p14:creationId xmlns:p14="http://schemas.microsoft.com/office/powerpoint/2010/main" val="106797011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1497</TotalTime>
  <Words>2704</Words>
  <Application>Microsoft Office PowerPoint</Application>
  <PresentationFormat>On-screen Show (16:9)</PresentationFormat>
  <Paragraphs>272</Paragraphs>
  <Slides>24</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Arial</vt:lpstr>
      <vt:lpstr>Calibri</vt:lpstr>
      <vt:lpstr>Times New Roman</vt:lpstr>
      <vt:lpstr>Simple Light</vt:lpstr>
      <vt:lpstr>ML 2025 Project </vt:lpstr>
      <vt:lpstr>Objectives</vt:lpstr>
      <vt:lpstr>Pipeline and features for the model implementation</vt:lpstr>
      <vt:lpstr>Monk Result: Best Hyperparameters on KNN, SVM, RF</vt:lpstr>
      <vt:lpstr>Monk Results : KNN, RF, SVM Performances  </vt:lpstr>
      <vt:lpstr>Monk Results Best Hyperparameters of Neural Network</vt:lpstr>
      <vt:lpstr>Learning curve of Monk 1 &amp; 2 </vt:lpstr>
      <vt:lpstr>Learning curve of Monk 3 (with and without reg)</vt:lpstr>
      <vt:lpstr>CUP Validation schema: data splitting</vt:lpstr>
      <vt:lpstr>CUP Validation schema: model selection</vt:lpstr>
      <vt:lpstr>CUP Validation schema: model selection</vt:lpstr>
      <vt:lpstr>CUP Validation schema: model selection</vt:lpstr>
      <vt:lpstr>CUP Results (KNN, SVR, XGBoost, Random Forest)</vt:lpstr>
      <vt:lpstr>CUP Results (Neural Netwworks)</vt:lpstr>
      <vt:lpstr>learning curve Neural networks</vt:lpstr>
      <vt:lpstr>CUP Results (best model)</vt:lpstr>
      <vt:lpstr>Discussion</vt:lpstr>
      <vt:lpstr>Conclusions</vt:lpstr>
      <vt:lpstr>Appendix 1: Monk 1 evaluation metrics</vt:lpstr>
      <vt:lpstr>Appendix 2: Monk 2 evaluation metrics</vt:lpstr>
      <vt:lpstr>Appendix 3: Monk 3 evaluation metrics</vt:lpstr>
      <vt:lpstr>Appendix 4: SVR</vt:lpstr>
      <vt:lpstr>Appendix 5: XGBoost</vt:lpstr>
      <vt:lpstr>Appendix 6: Random Forest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Thi Hien Do</cp:lastModifiedBy>
  <cp:revision>24</cp:revision>
  <dcterms:modified xsi:type="dcterms:W3CDTF">2026-01-23T09:42:22Z</dcterms:modified>
</cp:coreProperties>
</file>